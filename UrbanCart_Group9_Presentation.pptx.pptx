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92431" y="3236424"/>
            <a:ext cx="5490686" cy="852542"/>
            <a:chOff x="0" y="0"/>
            <a:chExt cx="7320915" cy="1136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20920" cy="1136717"/>
            </a:xfrm>
            <a:custGeom>
              <a:avLst/>
              <a:gdLst/>
              <a:ahLst/>
              <a:cxnLst/>
              <a:rect r="r" b="b" t="t" l="l"/>
              <a:pathLst>
                <a:path h="1136717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136717"/>
                  </a:lnTo>
                  <a:lnTo>
                    <a:pt x="0" y="1136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188" r="0" b="-7379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320915" cy="1136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UrbanCart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58666" y="4192431"/>
            <a:ext cx="7824235" cy="852542"/>
            <a:chOff x="0" y="0"/>
            <a:chExt cx="10432313" cy="1136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32311" cy="1136717"/>
            </a:xfrm>
            <a:custGeom>
              <a:avLst/>
              <a:gdLst/>
              <a:ahLst/>
              <a:cxnLst/>
              <a:rect r="r" b="b" t="t" l="l"/>
              <a:pathLst>
                <a:path h="1136717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1136717"/>
                  </a:lnTo>
                  <a:lnTo>
                    <a:pt x="0" y="1136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522" r="0" b="-1271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432313" cy="1136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38BDF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Big Data Analytics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083" y="3746249"/>
            <a:ext cx="5685149" cy="57198"/>
            <a:chOff x="0" y="0"/>
            <a:chExt cx="7580198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80249" cy="76200"/>
            </a:xfrm>
            <a:custGeom>
              <a:avLst/>
              <a:gdLst/>
              <a:ahLst/>
              <a:cxnLst/>
              <a:rect r="r" b="b" t="t" l="l"/>
              <a:pathLst>
                <a:path h="76200" w="7580249">
                  <a:moveTo>
                    <a:pt x="0" y="0"/>
                  </a:moveTo>
                  <a:lnTo>
                    <a:pt x="758024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88284" r="0" b="-1888367"/>
              </a:stretch>
            </a:blipFill>
            <a:ln w="5719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40069" y="819579"/>
            <a:ext cx="7618333" cy="4323921"/>
            <a:chOff x="0" y="0"/>
            <a:chExt cx="10157778" cy="5765228"/>
          </a:xfrm>
        </p:grpSpPr>
        <p:sp>
          <p:nvSpPr>
            <p:cNvPr name="Freeform 11" id="11" descr="/mnt/data/urbancart_better_charts/chart1_category_revenue.png"/>
            <p:cNvSpPr/>
            <p:nvPr/>
          </p:nvSpPr>
          <p:spPr>
            <a:xfrm flipH="false" flipV="false" rot="0">
              <a:off x="0" y="0"/>
              <a:ext cx="10157714" cy="5765165"/>
            </a:xfrm>
            <a:custGeom>
              <a:avLst/>
              <a:gdLst/>
              <a:ahLst/>
              <a:cxnLst/>
              <a:rect r="r" b="b" t="t" l="l"/>
              <a:pathLst>
                <a:path h="5765165" w="10157714">
                  <a:moveTo>
                    <a:pt x="0" y="0"/>
                  </a:moveTo>
                  <a:lnTo>
                    <a:pt x="10157714" y="0"/>
                  </a:lnTo>
                  <a:lnTo>
                    <a:pt x="10157714" y="5765165"/>
                  </a:lnTo>
                  <a:lnTo>
                    <a:pt x="0" y="5765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68" t="0" r="-1669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40069" y="5559323"/>
            <a:ext cx="7618333" cy="4118019"/>
            <a:chOff x="0" y="0"/>
            <a:chExt cx="10157778" cy="5490693"/>
          </a:xfrm>
        </p:grpSpPr>
        <p:sp>
          <p:nvSpPr>
            <p:cNvPr name="Freeform 13" id="13" descr="/mnt/data/urbancart_better_charts/chart4_revenue_forecast.png"/>
            <p:cNvSpPr/>
            <p:nvPr/>
          </p:nvSpPr>
          <p:spPr>
            <a:xfrm flipH="false" flipV="false" rot="0">
              <a:off x="0" y="0"/>
              <a:ext cx="10157714" cy="5490718"/>
            </a:xfrm>
            <a:custGeom>
              <a:avLst/>
              <a:gdLst/>
              <a:ahLst/>
              <a:cxnLst/>
              <a:rect r="r" b="b" t="t" l="l"/>
              <a:pathLst>
                <a:path h="5490718" w="10157714">
                  <a:moveTo>
                    <a:pt x="0" y="0"/>
                  </a:moveTo>
                  <a:lnTo>
                    <a:pt x="10157714" y="0"/>
                  </a:lnTo>
                  <a:lnTo>
                    <a:pt x="10157714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97" r="0" b="-869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1356" y="7951708"/>
            <a:ext cx="8115300" cy="912762"/>
            <a:chOff x="0" y="0"/>
            <a:chExt cx="9883242" cy="11116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3241" cy="1111604"/>
            </a:xfrm>
            <a:custGeom>
              <a:avLst/>
              <a:gdLst/>
              <a:ahLst/>
              <a:cxnLst/>
              <a:rect r="r" b="b" t="t" l="l"/>
              <a:pathLst>
                <a:path h="1111604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111604"/>
                  </a:lnTo>
                  <a:lnTo>
                    <a:pt x="0" y="111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543" r="0" b="-979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9883242" cy="1102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D9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Keo Samnang  •  Sue Theara  •  Teng Nyka  • Yin Panharith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70686" y="8991000"/>
            <a:ext cx="7412431" cy="411802"/>
            <a:chOff x="0" y="0"/>
            <a:chExt cx="9883242" cy="5490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83241" cy="549066"/>
            </a:xfrm>
            <a:custGeom>
              <a:avLst/>
              <a:gdLst/>
              <a:ahLst/>
              <a:cxnLst/>
              <a:rect r="r" b="b" t="t" l="l"/>
              <a:pathLst>
                <a:path h="549066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2" r="0" b="-3007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88324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1"/>
                </a:lnSpc>
              </a:pPr>
              <a:r>
                <a:rPr lang="en-US" sz="1851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SQL  |  pandas  |  NumPy  |  Matplotlib  |  Jupyter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37402" y="819579"/>
            <a:ext cx="7999255" cy="2161961"/>
          </a:xfrm>
          <a:custGeom>
            <a:avLst/>
            <a:gdLst/>
            <a:ahLst/>
            <a:cxnLst/>
            <a:rect r="r" b="b" t="t" l="l"/>
            <a:pathLst>
              <a:path h="2161961" w="7999255">
                <a:moveTo>
                  <a:pt x="0" y="0"/>
                </a:moveTo>
                <a:lnTo>
                  <a:pt x="7999254" y="0"/>
                </a:lnTo>
                <a:lnTo>
                  <a:pt x="7999254" y="2161960"/>
                </a:lnTo>
                <a:lnTo>
                  <a:pt x="0" y="2161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0686" y="5645167"/>
            <a:ext cx="4009504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b="true" sz="249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Subject: Big Data</a:t>
            </a:r>
          </a:p>
          <a:p>
            <a:pPr algn="l">
              <a:lnSpc>
                <a:spcPts val="3624"/>
              </a:lnSpc>
            </a:pPr>
            <a:r>
              <a:rPr lang="en-US" b="true" sz="249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Room: Accounting Lab</a:t>
            </a:r>
          </a:p>
          <a:p>
            <a:pPr algn="l">
              <a:lnSpc>
                <a:spcPts val="3624"/>
              </a:lnSpc>
            </a:pPr>
            <a:r>
              <a:rPr lang="en-US" b="true" sz="249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Lecturer: Mr. Min Sothearith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5768" y="7284958"/>
            <a:ext cx="24758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Group Members: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Presentation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889" y="2087063"/>
            <a:ext cx="17302111" cy="5817350"/>
            <a:chOff x="0" y="0"/>
            <a:chExt cx="23069481" cy="77564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353682"/>
              <a:ext cx="5490693" cy="664282"/>
              <a:chOff x="0" y="0"/>
              <a:chExt cx="5490693" cy="66428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490690" cy="664279"/>
              </a:xfrm>
              <a:custGeom>
                <a:avLst/>
                <a:gdLst/>
                <a:ahLst/>
                <a:cxnLst/>
                <a:rect r="r" b="b" t="t" l="l"/>
                <a:pathLst>
                  <a:path h="664279" w="5490690">
                    <a:moveTo>
                      <a:pt x="0" y="0"/>
                    </a:moveTo>
                    <a:lnTo>
                      <a:pt x="5490690" y="0"/>
                    </a:lnTo>
                    <a:lnTo>
                      <a:pt x="5490690" y="664279"/>
                    </a:lnTo>
                    <a:lnTo>
                      <a:pt x="0" y="66427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9728" r="0" b="-102384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5490693" cy="6642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81"/>
                  </a:lnSpc>
                </a:pPr>
                <a:r>
                  <a:rPr lang="en-US" sz="2651" b="true">
                    <a:solidFill>
                      <a:srgbClr val="0B4A6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Team members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8162" y="1644478"/>
              <a:ext cx="3843477" cy="616322"/>
              <a:chOff x="0" y="0"/>
              <a:chExt cx="3843477" cy="6163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43483" cy="616319"/>
              </a:xfrm>
              <a:custGeom>
                <a:avLst/>
                <a:gdLst/>
                <a:ahLst/>
                <a:cxnLst/>
                <a:rect r="r" b="b" t="t" l="l"/>
                <a:pathLst>
                  <a:path h="616319" w="3843483">
                    <a:moveTo>
                      <a:pt x="0" y="0"/>
                    </a:moveTo>
                    <a:lnTo>
                      <a:pt x="3843483" y="0"/>
                    </a:lnTo>
                    <a:lnTo>
                      <a:pt x="3843483" y="616319"/>
                    </a:lnTo>
                    <a:lnTo>
                      <a:pt x="0" y="61631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6967" r="0" b="-66056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843477" cy="6163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42"/>
                  </a:lnSpc>
                </a:pPr>
                <a:r>
                  <a:rPr lang="en-US" sz="2451" b="true">
                    <a:solidFill>
                      <a:srgbClr val="0F172A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Keo Samnang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240789" y="1644478"/>
              <a:ext cx="8540267" cy="1112841"/>
              <a:chOff x="0" y="0"/>
              <a:chExt cx="8540267" cy="111284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40273" cy="1112841"/>
              </a:xfrm>
              <a:custGeom>
                <a:avLst/>
                <a:gdLst/>
                <a:ahLst/>
                <a:cxnLst/>
                <a:rect r="r" b="b" t="t" l="l"/>
                <a:pathLst>
                  <a:path h="1112841" w="8540273">
                    <a:moveTo>
                      <a:pt x="0" y="0"/>
                    </a:moveTo>
                    <a:lnTo>
                      <a:pt x="8540273" y="0"/>
                    </a:lnTo>
                    <a:lnTo>
                      <a:pt x="8540273" y="1112841"/>
                    </a:lnTo>
                    <a:lnTo>
                      <a:pt x="0" y="111284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1869" r="14277" b="-54498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540267" cy="11128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71"/>
                  </a:lnSpc>
                </a:pPr>
                <a:r>
                  <a:rPr lang="en-US" sz="2476">
                    <a:solidFill>
                      <a:srgbClr val="475569"/>
                    </a:solidFill>
                    <a:latin typeface="Aptos"/>
                    <a:ea typeface="Aptos"/>
                    <a:cs typeface="Aptos"/>
                    <a:sym typeface="Aptos"/>
                  </a:rPr>
                  <a:t>SQL Queries 1–4, database loading, date standardization, and missing-value handling.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6207588"/>
              <a:ext cx="3843477" cy="616322"/>
              <a:chOff x="0" y="0"/>
              <a:chExt cx="3843477" cy="61632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843483" cy="616319"/>
              </a:xfrm>
              <a:custGeom>
                <a:avLst/>
                <a:gdLst/>
                <a:ahLst/>
                <a:cxnLst/>
                <a:rect r="r" b="b" t="t" l="l"/>
                <a:pathLst>
                  <a:path h="616319" w="3843483">
                    <a:moveTo>
                      <a:pt x="0" y="0"/>
                    </a:moveTo>
                    <a:lnTo>
                      <a:pt x="3843483" y="0"/>
                    </a:lnTo>
                    <a:lnTo>
                      <a:pt x="3843483" y="616319"/>
                    </a:lnTo>
                    <a:lnTo>
                      <a:pt x="0" y="61631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6967" r="0" b="-66056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3843477" cy="6163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42"/>
                  </a:lnSpc>
                </a:pPr>
                <a:r>
                  <a:rPr lang="en-US" sz="2451" b="true">
                    <a:solidFill>
                      <a:srgbClr val="0F172A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Sue Theara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240789" y="3270637"/>
              <a:ext cx="8047226" cy="2103441"/>
              <a:chOff x="0" y="0"/>
              <a:chExt cx="8047226" cy="210344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47231" cy="2103441"/>
              </a:xfrm>
              <a:custGeom>
                <a:avLst/>
                <a:gdLst/>
                <a:ahLst/>
                <a:cxnLst/>
                <a:rect r="r" b="b" t="t" l="l"/>
                <a:pathLst>
                  <a:path h="2103441" w="8047231">
                    <a:moveTo>
                      <a:pt x="0" y="0"/>
                    </a:moveTo>
                    <a:lnTo>
                      <a:pt x="8047231" y="0"/>
                    </a:lnTo>
                    <a:lnTo>
                      <a:pt x="8047231" y="2103441"/>
                    </a:lnTo>
                    <a:lnTo>
                      <a:pt x="0" y="210344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3894" r="9025" b="18261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047226" cy="21034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71"/>
                  </a:lnSpc>
                </a:pPr>
                <a:r>
                  <a:rPr lang="en-US" sz="2476">
                    <a:solidFill>
                      <a:srgbClr val="475569"/>
                    </a:solidFill>
                    <a:latin typeface="Aptos"/>
                    <a:ea typeface="Aptos"/>
                    <a:cs typeface="Aptos"/>
                    <a:sym typeface="Aptos"/>
                  </a:rPr>
                  <a:t>NumPy methods, business charts, report preparation, and reusable pipeline.</a:t>
                </a:r>
              </a:p>
              <a:p>
                <a:pPr algn="l">
                  <a:lnSpc>
                    <a:spcPts val="2971"/>
                  </a:lnSpc>
                </a:pPr>
              </a:p>
              <a:p>
                <a:pPr algn="l">
                  <a:lnSpc>
                    <a:spcPts val="297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8162" y="4716880"/>
              <a:ext cx="3843477" cy="616322"/>
              <a:chOff x="0" y="0"/>
              <a:chExt cx="3843477" cy="61632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843483" cy="616319"/>
              </a:xfrm>
              <a:custGeom>
                <a:avLst/>
                <a:gdLst/>
                <a:ahLst/>
                <a:cxnLst/>
                <a:rect r="r" b="b" t="t" l="l"/>
                <a:pathLst>
                  <a:path h="616319" w="3843483">
                    <a:moveTo>
                      <a:pt x="0" y="0"/>
                    </a:moveTo>
                    <a:lnTo>
                      <a:pt x="3843483" y="0"/>
                    </a:lnTo>
                    <a:lnTo>
                      <a:pt x="3843483" y="616319"/>
                    </a:lnTo>
                    <a:lnTo>
                      <a:pt x="0" y="61631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6967" r="0" b="-66056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3843477" cy="61632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42"/>
                  </a:lnSpc>
                </a:pPr>
                <a:r>
                  <a:rPr lang="en-US" sz="2451" b="true">
                    <a:solidFill>
                      <a:srgbClr val="0F172A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Teng Nyka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088088" y="4776781"/>
              <a:ext cx="9048746" cy="1112841"/>
              <a:chOff x="0" y="0"/>
              <a:chExt cx="9048746" cy="111284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048752" cy="1112841"/>
              </a:xfrm>
              <a:custGeom>
                <a:avLst/>
                <a:gdLst/>
                <a:ahLst/>
                <a:cxnLst/>
                <a:rect r="r" b="b" t="t" l="l"/>
                <a:pathLst>
                  <a:path h="1112841" w="9048752">
                    <a:moveTo>
                      <a:pt x="0" y="0"/>
                    </a:moveTo>
                    <a:lnTo>
                      <a:pt x="9048752" y="0"/>
                    </a:lnTo>
                    <a:lnTo>
                      <a:pt x="9048752" y="1112841"/>
                    </a:lnTo>
                    <a:lnTo>
                      <a:pt x="0" y="111284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1869" r="19094" b="-54498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9048746" cy="11128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71"/>
                  </a:lnSpc>
                </a:pPr>
                <a:r>
                  <a:rPr lang="en-US" sz="2476">
                    <a:solidFill>
                      <a:srgbClr val="475569"/>
                    </a:solidFill>
                    <a:latin typeface="Aptos"/>
                    <a:ea typeface="Aptos"/>
                    <a:cs typeface="Aptos"/>
                    <a:sym typeface="Aptos"/>
                  </a:rPr>
                  <a:t>SQL Queries 5–10, outlier handling, product catalog reconciliation, and time-series analysis.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353294" y="0"/>
              <a:ext cx="21716187" cy="27965"/>
              <a:chOff x="0" y="0"/>
              <a:chExt cx="21716187" cy="2796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716237" cy="27940"/>
              </a:xfrm>
              <a:custGeom>
                <a:avLst/>
                <a:gdLst/>
                <a:ahLst/>
                <a:cxnLst/>
                <a:rect r="r" b="b" t="t" l="l"/>
                <a:pathLst>
                  <a:path h="27940" w="21716237">
                    <a:moveTo>
                      <a:pt x="0" y="0"/>
                    </a:moveTo>
                    <a:lnTo>
                      <a:pt x="21716237" y="27940"/>
                    </a:lnTo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094576" r="0" b="-15094667"/>
                </a:stretch>
              </a:blipFill>
              <a:ln w="20971" cap="sq">
                <a:solidFill>
                  <a:srgbClr val="CBD5E1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3227172" y="508140"/>
              <a:ext cx="5490693" cy="568338"/>
              <a:chOff x="0" y="0"/>
              <a:chExt cx="5490693" cy="56833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490690" cy="568335"/>
              </a:xfrm>
              <a:custGeom>
                <a:avLst/>
                <a:gdLst/>
                <a:ahLst/>
                <a:cxnLst/>
                <a:rect r="r" b="b" t="t" l="l"/>
                <a:pathLst>
                  <a:path h="568335" w="5490690">
                    <a:moveTo>
                      <a:pt x="0" y="0"/>
                    </a:moveTo>
                    <a:lnTo>
                      <a:pt x="5490690" y="0"/>
                    </a:lnTo>
                    <a:lnTo>
                      <a:pt x="5490690" y="568335"/>
                    </a:lnTo>
                    <a:lnTo>
                      <a:pt x="0" y="5683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9939" r="0" b="-136550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5490693" cy="5683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1"/>
                  </a:lnSpc>
                </a:pPr>
                <a:r>
                  <a:rPr lang="en-US" sz="2251" b="true">
                    <a:solidFill>
                      <a:srgbClr val="0B4A6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What we will cover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3227172" y="1331747"/>
              <a:ext cx="457556" cy="633958"/>
              <a:chOff x="0" y="0"/>
              <a:chExt cx="457556" cy="63395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3812845" y="1331747"/>
              <a:ext cx="8419059" cy="732092"/>
              <a:chOff x="0" y="0"/>
              <a:chExt cx="8419059" cy="73209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Business problem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3227172" y="2393277"/>
              <a:ext cx="457556" cy="633958"/>
              <a:chOff x="0" y="0"/>
              <a:chExt cx="457556" cy="63395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3812845" y="2393277"/>
              <a:ext cx="8419059" cy="732092"/>
              <a:chOff x="0" y="0"/>
              <a:chExt cx="8419059" cy="73209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Data pipeline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3227172" y="3454819"/>
              <a:ext cx="457556" cy="633958"/>
              <a:chOff x="0" y="0"/>
              <a:chExt cx="457556" cy="63395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3812845" y="3454819"/>
              <a:ext cx="8419059" cy="732092"/>
              <a:chOff x="0" y="0"/>
              <a:chExt cx="8419059" cy="73209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Cleaning evidence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3227172" y="4516349"/>
              <a:ext cx="457556" cy="633958"/>
              <a:chOff x="0" y="0"/>
              <a:chExt cx="457556" cy="633958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3812845" y="4516349"/>
              <a:ext cx="8419059" cy="732092"/>
              <a:chOff x="0" y="0"/>
              <a:chExt cx="8419059" cy="73209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NumPy methods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3227172" y="5577878"/>
              <a:ext cx="457556" cy="633958"/>
              <a:chOff x="0" y="0"/>
              <a:chExt cx="457556" cy="633958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13812845" y="5577878"/>
              <a:ext cx="8419059" cy="732092"/>
              <a:chOff x="0" y="0"/>
              <a:chExt cx="8419059" cy="73209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8 business findings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3227172" y="6639408"/>
              <a:ext cx="457556" cy="633958"/>
              <a:chOff x="0" y="0"/>
              <a:chExt cx="457556" cy="633958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57557" cy="633960"/>
              </a:xfrm>
              <a:custGeom>
                <a:avLst/>
                <a:gdLst/>
                <a:ahLst/>
                <a:cxnLst/>
                <a:rect r="r" b="b" t="t" l="l"/>
                <a:pathLst>
                  <a:path h="633960" w="457557">
                    <a:moveTo>
                      <a:pt x="0" y="0"/>
                    </a:moveTo>
                    <a:lnTo>
                      <a:pt x="457557" y="0"/>
                    </a:lnTo>
                    <a:lnTo>
                      <a:pt x="457557" y="633960"/>
                    </a:lnTo>
                    <a:lnTo>
                      <a:pt x="0" y="633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2" b="27825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0"/>
                <a:ext cx="457556" cy="6339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 b="true">
                    <a:solidFill>
                      <a:srgbClr val="00A6A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•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3812845" y="6639408"/>
              <a:ext cx="8419059" cy="732092"/>
              <a:chOff x="0" y="0"/>
              <a:chExt cx="8419059" cy="73209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419057" cy="732092"/>
              </a:xfrm>
              <a:custGeom>
                <a:avLst/>
                <a:gdLst/>
                <a:ahLst/>
                <a:cxnLst/>
                <a:rect r="r" b="b" t="t" l="l"/>
                <a:pathLst>
                  <a:path h="732092" w="8419057">
                    <a:moveTo>
                      <a:pt x="0" y="0"/>
                    </a:moveTo>
                    <a:lnTo>
                      <a:pt x="8419057" y="0"/>
                    </a:lnTo>
                    <a:lnTo>
                      <a:pt x="8419057" y="732092"/>
                    </a:lnTo>
                    <a:lnTo>
                      <a:pt x="0" y="7320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4077" r="0" b="-174077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0"/>
                <a:ext cx="8419059" cy="7320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62"/>
                  </a:lnSpc>
                </a:pPr>
                <a:r>
                  <a:rPr lang="en-US" sz="2551">
                    <a:solidFill>
                      <a:srgbClr val="0F172A"/>
                    </a:solidFill>
                    <a:latin typeface="Aptos"/>
                    <a:ea typeface="Aptos"/>
                    <a:cs typeface="Aptos"/>
                    <a:sym typeface="Aptos"/>
                  </a:rPr>
                  <a:t>Recommendations + deliverables</a:t>
                </a: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101997" y="3438100"/>
              <a:ext cx="250259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2"/>
                </a:lnSpc>
                <a:spcBef>
                  <a:spcPct val="0"/>
                </a:spcBef>
              </a:pPr>
              <a:r>
                <a:rPr lang="en-US" b="true" sz="245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Yin Panharith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3240789" y="6270567"/>
              <a:ext cx="8540267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5"/>
                </a:lnSpc>
                <a:spcBef>
                  <a:spcPct val="0"/>
                </a:spcBef>
              </a:pPr>
              <a:r>
                <a:rPr lang="en-US" sz="2479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GitHub repository organization, README, requirements, presentation slides, and project validation.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Context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563703"/>
            <a:ext cx="4255284" cy="544621"/>
            <a:chOff x="0" y="0"/>
            <a:chExt cx="5673712" cy="7261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726163"/>
            </a:xfrm>
            <a:custGeom>
              <a:avLst/>
              <a:gdLst/>
              <a:ahLst/>
              <a:cxnLst/>
              <a:rect r="r" b="b" t="t" l="l"/>
              <a:pathLst>
                <a:path h="72616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726163"/>
                  </a:lnTo>
                  <a:lnTo>
                    <a:pt x="0" y="726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736" r="0" b="-8374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726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1"/>
                </a:lnSpc>
              </a:pPr>
              <a:r>
                <a:rPr lang="en-US" sz="28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TO SOLVE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264345"/>
            <a:ext cx="8510568" cy="1262858"/>
            <a:chOff x="0" y="0"/>
            <a:chExt cx="11347425" cy="1683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7425" cy="1683814"/>
            </a:xfrm>
            <a:custGeom>
              <a:avLst/>
              <a:gdLst/>
              <a:ahLst/>
              <a:cxnLst/>
              <a:rect r="r" b="b" t="t" l="l"/>
              <a:pathLst>
                <a:path h="168381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1683814"/>
                  </a:lnTo>
                  <a:lnTo>
                    <a:pt x="0" y="168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138" r="0" b="-584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347425" cy="1683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Messy ecommerce data makes business decisions risky.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0686" y="3774853"/>
            <a:ext cx="343167" cy="343167"/>
            <a:chOff x="0" y="0"/>
            <a:chExt cx="457556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557" cy="457557"/>
            </a:xfrm>
            <a:custGeom>
              <a:avLst/>
              <a:gdLst/>
              <a:ahLst/>
              <a:cxnLst/>
              <a:rect r="r" b="b" t="t" l="l"/>
              <a:pathLst>
                <a:path h="457557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7556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9941" y="3774853"/>
            <a:ext cx="7824235" cy="549069"/>
            <a:chOff x="0" y="0"/>
            <a:chExt cx="10432313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32311" cy="732092"/>
            </a:xfrm>
            <a:custGeom>
              <a:avLst/>
              <a:gdLst/>
              <a:ahLst/>
              <a:cxnLst/>
              <a:rect r="r" b="b" t="t" l="l"/>
              <a:pathLst>
                <a:path h="732092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4323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Who are the most valuable customers?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0686" y="4571000"/>
            <a:ext cx="343167" cy="343167"/>
            <a:chOff x="0" y="0"/>
            <a:chExt cx="457556" cy="457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7557" cy="457557"/>
            </a:xfrm>
            <a:custGeom>
              <a:avLst/>
              <a:gdLst/>
              <a:ahLst/>
              <a:cxnLst/>
              <a:rect r="r" b="b" t="t" l="l"/>
              <a:pathLst>
                <a:path h="457557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57556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9941" y="4571000"/>
            <a:ext cx="7824235" cy="549069"/>
            <a:chOff x="0" y="0"/>
            <a:chExt cx="10432313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32311" cy="732092"/>
            </a:xfrm>
            <a:custGeom>
              <a:avLst/>
              <a:gdLst/>
              <a:ahLst/>
              <a:cxnLst/>
              <a:rect r="r" b="b" t="t" l="l"/>
              <a:pathLst>
                <a:path h="732092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4323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Which categories and products really perform?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0686" y="5367147"/>
            <a:ext cx="343167" cy="343167"/>
            <a:chOff x="0" y="0"/>
            <a:chExt cx="457556" cy="457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557" cy="457557"/>
            </a:xfrm>
            <a:custGeom>
              <a:avLst/>
              <a:gdLst/>
              <a:ahLst/>
              <a:cxnLst/>
              <a:rect r="r" b="b" t="t" l="l"/>
              <a:pathLst>
                <a:path h="457557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57556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9941" y="5367147"/>
            <a:ext cx="7824235" cy="549069"/>
            <a:chOff x="0" y="0"/>
            <a:chExt cx="10432313" cy="7320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32311" cy="732092"/>
            </a:xfrm>
            <a:custGeom>
              <a:avLst/>
              <a:gdLst/>
              <a:ahLst/>
              <a:cxnLst/>
              <a:rect r="r" b="b" t="t" l="l"/>
              <a:pathLst>
                <a:path h="732092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04323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Can legacy and supplier data be trusted?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02216" y="1997254"/>
            <a:ext cx="1647206" cy="534181"/>
            <a:chOff x="0" y="0"/>
            <a:chExt cx="2196274" cy="712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6276" cy="712234"/>
            </a:xfrm>
            <a:custGeom>
              <a:avLst/>
              <a:gdLst/>
              <a:ahLst/>
              <a:cxnLst/>
              <a:rect r="r" b="b" t="t" l="l"/>
              <a:pathLst>
                <a:path h="71223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712234"/>
                  </a:lnTo>
                  <a:lnTo>
                    <a:pt x="0" y="7122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8" r="0" b="393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196274" cy="712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1"/>
                </a:lnSpc>
              </a:pPr>
              <a:r>
                <a:rPr lang="en-US" sz="285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14608" y="2910068"/>
            <a:ext cx="8517393" cy="1647207"/>
            <a:chOff x="0" y="0"/>
            <a:chExt cx="11356524" cy="21962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56525" cy="2196277"/>
            </a:xfrm>
            <a:custGeom>
              <a:avLst/>
              <a:gdLst/>
              <a:ahLst/>
              <a:cxnLst/>
              <a:rect r="r" b="b" t="t" l="l"/>
              <a:pathLst>
                <a:path h="2196277" w="11356525">
                  <a:moveTo>
                    <a:pt x="0" y="0"/>
                  </a:moveTo>
                  <a:lnTo>
                    <a:pt x="11356525" y="0"/>
                  </a:lnTo>
                  <a:lnTo>
                    <a:pt x="11356525" y="2196277"/>
                  </a:lnTo>
                  <a:lnTo>
                    <a:pt x="0" y="2196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24254" b="-263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1356524" cy="2291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52"/>
                </a:lnSpc>
              </a:pPr>
              <a:r>
                <a:rPr lang="en-US" sz="38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data → clean data → models → business actions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02216" y="5135128"/>
            <a:ext cx="6201813" cy="24784"/>
            <a:chOff x="0" y="0"/>
            <a:chExt cx="8269084" cy="330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69097" cy="33020"/>
            </a:xfrm>
            <a:custGeom>
              <a:avLst/>
              <a:gdLst/>
              <a:ahLst/>
              <a:cxnLst/>
              <a:rect r="r" b="b" t="t" l="l"/>
              <a:pathLst>
                <a:path h="33020" w="8269097">
                  <a:moveTo>
                    <a:pt x="0" y="0"/>
                  </a:moveTo>
                  <a:lnTo>
                    <a:pt x="8269097" y="330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829532" r="0" b="-4829609"/>
              </a:stretch>
            </a:blipFill>
            <a:ln w="24784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814608" y="5833853"/>
            <a:ext cx="2196274" cy="658882"/>
            <a:chOff x="0" y="0"/>
            <a:chExt cx="2928366" cy="8785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8368" cy="878510"/>
            </a:xfrm>
            <a:custGeom>
              <a:avLst/>
              <a:gdLst/>
              <a:ahLst/>
              <a:cxnLst/>
              <a:rect r="r" b="b" t="t" l="l"/>
              <a:pathLst>
                <a:path h="878510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92836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14608" y="6742909"/>
            <a:ext cx="2744353" cy="485899"/>
            <a:chOff x="0" y="0"/>
            <a:chExt cx="3659137" cy="6478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9139" cy="647870"/>
            </a:xfrm>
            <a:custGeom>
              <a:avLst/>
              <a:gdLst/>
              <a:ahLst/>
              <a:cxnLst/>
              <a:rect r="r" b="b" t="t" l="l"/>
              <a:pathLst>
                <a:path h="647870" w="3659139">
                  <a:moveTo>
                    <a:pt x="0" y="0"/>
                  </a:moveTo>
                  <a:lnTo>
                    <a:pt x="3659139" y="0"/>
                  </a:lnTo>
                  <a:lnTo>
                    <a:pt x="3659139" y="647870"/>
                  </a:lnTo>
                  <a:lnTo>
                    <a:pt x="0" y="647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35" r="19971" b="-3750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3659137" cy="6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25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business findings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34490" y="5833853"/>
            <a:ext cx="3294412" cy="658882"/>
            <a:chOff x="0" y="0"/>
            <a:chExt cx="4392549" cy="8785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92552" cy="878510"/>
            </a:xfrm>
            <a:custGeom>
              <a:avLst/>
              <a:gdLst/>
              <a:ahLst/>
              <a:cxnLst/>
              <a:rect r="r" b="b" t="t" l="l"/>
              <a:pathLst>
                <a:path h="878510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392549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34490" y="6547647"/>
            <a:ext cx="3294412" cy="485899"/>
            <a:chOff x="0" y="0"/>
            <a:chExt cx="4392549" cy="6478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92552" cy="647870"/>
            </a:xfrm>
            <a:custGeom>
              <a:avLst/>
              <a:gdLst/>
              <a:ahLst/>
              <a:cxnLst/>
              <a:rect r="r" b="b" t="t" l="l"/>
              <a:pathLst>
                <a:path h="647870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47870"/>
                  </a:lnTo>
                  <a:lnTo>
                    <a:pt x="0" y="647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71" r="0" b="-8154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4392549" cy="6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25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reusable pipeline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Sources &amp;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990373"/>
            <a:ext cx="3019882" cy="475460"/>
            <a:chOff x="0" y="0"/>
            <a:chExt cx="4026510" cy="6339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26506" cy="633948"/>
            </a:xfrm>
            <a:custGeom>
              <a:avLst/>
              <a:gdLst/>
              <a:ahLst/>
              <a:cxnLst/>
              <a:rect r="r" b="b" t="t" l="l"/>
              <a:pathLst>
                <a:path h="633948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33948"/>
                  </a:lnTo>
                  <a:lnTo>
                    <a:pt x="0" y="633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71" r="0" b="-5984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026510" cy="63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1"/>
                </a:lnSpc>
              </a:pPr>
              <a:r>
                <a:rPr lang="en-US" sz="255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scale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608078"/>
            <a:ext cx="2059010" cy="658882"/>
            <a:chOff x="0" y="0"/>
            <a:chExt cx="2745346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5345" cy="878510"/>
            </a:xfrm>
            <a:custGeom>
              <a:avLst/>
              <a:gdLst/>
              <a:ahLst/>
              <a:cxnLst/>
              <a:rect r="r" b="b" t="t" l="l"/>
              <a:pathLst>
                <a:path h="878510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74534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2,500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21863"/>
            <a:ext cx="2059010" cy="480435"/>
            <a:chOff x="0" y="0"/>
            <a:chExt cx="2745346" cy="6405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5345" cy="640586"/>
            </a:xfrm>
            <a:custGeom>
              <a:avLst/>
              <a:gdLst/>
              <a:ahLst/>
              <a:cxnLst/>
              <a:rect r="r" b="b" t="t" l="l"/>
              <a:pathLst>
                <a:path h="64058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745346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customers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37578" y="2608078"/>
            <a:ext cx="2059010" cy="658882"/>
            <a:chOff x="0" y="0"/>
            <a:chExt cx="2745346" cy="8785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5345" cy="878510"/>
            </a:xfrm>
            <a:custGeom>
              <a:avLst/>
              <a:gdLst/>
              <a:ahLst/>
              <a:cxnLst/>
              <a:rect r="r" b="b" t="t" l="l"/>
              <a:pathLst>
                <a:path h="878510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74534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9,000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37578" y="3321863"/>
            <a:ext cx="2059010" cy="480435"/>
            <a:chOff x="0" y="0"/>
            <a:chExt cx="2745346" cy="640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345" cy="640586"/>
            </a:xfrm>
            <a:custGeom>
              <a:avLst/>
              <a:gdLst/>
              <a:ahLst/>
              <a:cxnLst/>
              <a:rect r="r" b="b" t="t" l="l"/>
              <a:pathLst>
                <a:path h="64058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745346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orders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45657" y="2608078"/>
            <a:ext cx="3019882" cy="658882"/>
            <a:chOff x="0" y="0"/>
            <a:chExt cx="4026510" cy="8785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6506" cy="878510"/>
            </a:xfrm>
            <a:custGeom>
              <a:avLst/>
              <a:gdLst/>
              <a:ahLst/>
              <a:cxnLst/>
              <a:rect r="r" b="b" t="t" l="l"/>
              <a:pathLst>
                <a:path h="87851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02651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20,176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45657" y="3321863"/>
            <a:ext cx="3019882" cy="480435"/>
            <a:chOff x="0" y="0"/>
            <a:chExt cx="4026510" cy="640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6506" cy="640586"/>
            </a:xfrm>
            <a:custGeom>
              <a:avLst/>
              <a:gdLst/>
              <a:ahLst/>
              <a:cxnLst/>
              <a:rect r="r" b="b" t="t" l="l"/>
              <a:pathLst>
                <a:path h="640586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026510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clean order items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77343" y="2608078"/>
            <a:ext cx="3019882" cy="658882"/>
            <a:chOff x="0" y="0"/>
            <a:chExt cx="4026510" cy="8785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26506" cy="878510"/>
            </a:xfrm>
            <a:custGeom>
              <a:avLst/>
              <a:gdLst/>
              <a:ahLst/>
              <a:cxnLst/>
              <a:rect r="r" b="b" t="t" l="l"/>
              <a:pathLst>
                <a:path h="87851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02651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38BDF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12,000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77343" y="3321863"/>
            <a:ext cx="3019882" cy="480435"/>
            <a:chOff x="0" y="0"/>
            <a:chExt cx="4026510" cy="6405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6506" cy="640586"/>
            </a:xfrm>
            <a:custGeom>
              <a:avLst/>
              <a:gdLst/>
              <a:ahLst/>
              <a:cxnLst/>
              <a:rect r="r" b="b" t="t" l="l"/>
              <a:pathLst>
                <a:path h="640586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026510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web sessions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8324" y="4461186"/>
            <a:ext cx="3019882" cy="475460"/>
            <a:chOff x="0" y="0"/>
            <a:chExt cx="4026510" cy="6339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6506" cy="633948"/>
            </a:xfrm>
            <a:custGeom>
              <a:avLst/>
              <a:gdLst/>
              <a:ahLst/>
              <a:cxnLst/>
              <a:rect r="r" b="b" t="t" l="l"/>
              <a:pathLst>
                <a:path h="633948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33948"/>
                  </a:lnTo>
                  <a:lnTo>
                    <a:pt x="0" y="633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71" r="0" b="-598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026510" cy="63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1"/>
                </a:lnSpc>
              </a:pPr>
              <a:r>
                <a:rPr lang="en-US" sz="255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Workflow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8324" y="5147520"/>
            <a:ext cx="15854362" cy="892235"/>
            <a:chOff x="0" y="0"/>
            <a:chExt cx="21139150" cy="118964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139155" cy="1189649"/>
            </a:xfrm>
            <a:custGeom>
              <a:avLst/>
              <a:gdLst/>
              <a:ahLst/>
              <a:cxnLst/>
              <a:rect r="r" b="b" t="t" l="l"/>
              <a:pathLst>
                <a:path h="1189649" w="21139155">
                  <a:moveTo>
                    <a:pt x="0" y="0"/>
                  </a:moveTo>
                  <a:lnTo>
                    <a:pt x="21139155" y="0"/>
                  </a:lnTo>
                  <a:lnTo>
                    <a:pt x="2113915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234" r="0" b="-2962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139150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extraction  →  pandas cleaning  →  NumPy methods  →  charts  →  pipeline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4027" y="6368625"/>
            <a:ext cx="15882966" cy="28594"/>
            <a:chOff x="0" y="0"/>
            <a:chExt cx="21177288" cy="381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177250" cy="38100"/>
            </a:xfrm>
            <a:custGeom>
              <a:avLst/>
              <a:gdLst/>
              <a:ahLst/>
              <a:cxnLst/>
              <a:rect r="r" b="b" t="t" l="l"/>
              <a:pathLst>
                <a:path h="38100" w="21177250">
                  <a:moveTo>
                    <a:pt x="0" y="0"/>
                  </a:moveTo>
                  <a:lnTo>
                    <a:pt x="21177250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780419" r="0" b="-10780486"/>
              </a:stretch>
            </a:blipFill>
            <a:ln w="28597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8324" y="7110441"/>
            <a:ext cx="10157774" cy="549069"/>
            <a:chOff x="0" y="0"/>
            <a:chExt cx="13543699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543700" cy="732092"/>
            </a:xfrm>
            <a:custGeom>
              <a:avLst/>
              <a:gdLst/>
              <a:ahLst/>
              <a:cxnLst/>
              <a:rect r="r" b="b" t="t" l="l"/>
              <a:pathLst>
                <a:path h="732092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3543699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External files: legacy customer export + supplier product catalog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8324" y="7934049"/>
            <a:ext cx="12354049" cy="549069"/>
            <a:chOff x="0" y="0"/>
            <a:chExt cx="16472065" cy="7320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72069" cy="732092"/>
            </a:xfrm>
            <a:custGeom>
              <a:avLst/>
              <a:gdLst/>
              <a:ahLst/>
              <a:cxnLst/>
              <a:rect r="r" b="b" t="t" l="l"/>
              <a:pathLst>
                <a:path h="732092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647206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Output: clean datasets, model results, charts, report and GitHub repository.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Phase 2 — Cleaning Evidence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949196"/>
            <a:ext cx="4255284" cy="463138"/>
            <a:chOff x="0" y="0"/>
            <a:chExt cx="5673712" cy="6175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617519"/>
            </a:xfrm>
            <a:custGeom>
              <a:avLst/>
              <a:gdLst/>
              <a:ahLst/>
              <a:cxnLst/>
              <a:rect r="r" b="b" t="t" l="l"/>
              <a:pathLst>
                <a:path h="617519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617519"/>
                  </a:lnTo>
                  <a:lnTo>
                    <a:pt x="0" y="617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78" r="0" b="-1160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617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5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AUDIT RESULTS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60542" y="1949196"/>
            <a:ext cx="9987251" cy="6838818"/>
            <a:chOff x="0" y="0"/>
            <a:chExt cx="12294997" cy="8419059"/>
          </a:xfrm>
        </p:grpSpPr>
        <p:sp>
          <p:nvSpPr>
            <p:cNvPr name="Freeform 11" id="11" descr="/mnt/data/urbancart_better_charts/chart9_cleaning_summary.png"/>
            <p:cNvSpPr/>
            <p:nvPr/>
          </p:nvSpPr>
          <p:spPr>
            <a:xfrm flipH="false" flipV="false" rot="0">
              <a:off x="0" y="0"/>
              <a:ext cx="12294997" cy="8419084"/>
            </a:xfrm>
            <a:custGeom>
              <a:avLst/>
              <a:gdLst/>
              <a:ahLst/>
              <a:cxnLst/>
              <a:rect r="r" b="b" t="t" l="l"/>
              <a:pathLst>
                <a:path h="8419084" w="12294997">
                  <a:moveTo>
                    <a:pt x="0" y="0"/>
                  </a:moveTo>
                  <a:lnTo>
                    <a:pt x="12294997" y="0"/>
                  </a:lnTo>
                  <a:lnTo>
                    <a:pt x="12294997" y="8419084"/>
                  </a:lnTo>
                  <a:lnTo>
                    <a:pt x="0" y="841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470814"/>
            <a:ext cx="4941618" cy="658882"/>
            <a:chOff x="0" y="0"/>
            <a:chExt cx="6588823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8827" cy="878510"/>
            </a:xfrm>
            <a:custGeom>
              <a:avLst/>
              <a:gdLst/>
              <a:ahLst/>
              <a:cxnLst/>
              <a:rect r="r" b="b" t="t" l="l"/>
              <a:pathLst>
                <a:path h="878510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8823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1,377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8324" y="3184598"/>
            <a:ext cx="4941618" cy="499126"/>
            <a:chOff x="0" y="0"/>
            <a:chExt cx="6588823" cy="6655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8827" cy="665506"/>
            </a:xfrm>
            <a:custGeom>
              <a:avLst/>
              <a:gdLst/>
              <a:ahLst/>
              <a:cxnLst/>
              <a:rect r="r" b="b" t="t" l="l"/>
              <a:pathLst>
                <a:path h="665506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665506"/>
                  </a:lnTo>
                  <a:lnTo>
                    <a:pt x="0" y="665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84" r="0" b="-1410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588823" cy="665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legacy customer records kept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8324" y="3912118"/>
            <a:ext cx="4392549" cy="658882"/>
            <a:chOff x="0" y="0"/>
            <a:chExt cx="5856732" cy="8785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6736" cy="878510"/>
            </a:xfrm>
            <a:custGeom>
              <a:avLst/>
              <a:gdLst/>
              <a:ahLst/>
              <a:cxnLst/>
              <a:rect r="r" b="b" t="t" l="l"/>
              <a:pathLst>
                <a:path h="878510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856732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8324" y="4625902"/>
            <a:ext cx="4392549" cy="499126"/>
            <a:chOff x="0" y="0"/>
            <a:chExt cx="5856732" cy="6655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6736" cy="665506"/>
            </a:xfrm>
            <a:custGeom>
              <a:avLst/>
              <a:gdLst/>
              <a:ahLst/>
              <a:cxnLst/>
              <a:rect r="r" b="b" t="t" l="l"/>
              <a:pathLst>
                <a:path h="665506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665506"/>
                  </a:lnTo>
                  <a:lnTo>
                    <a:pt x="0" y="665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349" r="0" b="-1196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856732" cy="665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unparsed signup dates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8324" y="5353421"/>
            <a:ext cx="4941618" cy="658882"/>
            <a:chOff x="0" y="0"/>
            <a:chExt cx="6588823" cy="87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8827" cy="878510"/>
            </a:xfrm>
            <a:custGeom>
              <a:avLst/>
              <a:gdLst/>
              <a:ahLst/>
              <a:cxnLst/>
              <a:rect r="r" b="b" t="t" l="l"/>
              <a:pathLst>
                <a:path h="878510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588823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186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8324" y="6067215"/>
            <a:ext cx="4941618" cy="499126"/>
            <a:chOff x="0" y="0"/>
            <a:chExt cx="6588823" cy="6655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8827" cy="665506"/>
            </a:xfrm>
            <a:custGeom>
              <a:avLst/>
              <a:gdLst/>
              <a:ahLst/>
              <a:cxnLst/>
              <a:rect r="r" b="b" t="t" l="l"/>
              <a:pathLst>
                <a:path h="665506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665506"/>
                  </a:lnTo>
                  <a:lnTo>
                    <a:pt x="0" y="665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84" r="0" b="-1410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588823" cy="665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duplicate order rows removed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8324" y="7137892"/>
            <a:ext cx="2059010" cy="450843"/>
            <a:chOff x="0" y="0"/>
            <a:chExt cx="2745346" cy="6011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5345" cy="601128"/>
            </a:xfrm>
            <a:custGeom>
              <a:avLst/>
              <a:gdLst/>
              <a:ahLst/>
              <a:cxnLst/>
              <a:rect r="r" b="b" t="t" l="l"/>
              <a:pathLst>
                <a:path h="601128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01128"/>
                  </a:lnTo>
                  <a:lnTo>
                    <a:pt x="0" y="601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07" r="0" b="-285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745346" cy="601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1"/>
                </a:lnSpc>
              </a:pPr>
              <a:r>
                <a:rPr lang="en-US" sz="24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policy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8324" y="7618333"/>
            <a:ext cx="5765225" cy="877365"/>
            <a:chOff x="0" y="0"/>
            <a:chExt cx="7686967" cy="11698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86966" cy="1169813"/>
            </a:xfrm>
            <a:custGeom>
              <a:avLst/>
              <a:gdLst/>
              <a:ahLst/>
              <a:cxnLst/>
              <a:rect r="r" b="b" t="t" l="l"/>
              <a:pathLst>
                <a:path h="1169813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169813"/>
                  </a:lnTo>
                  <a:lnTo>
                    <a:pt x="0" y="1169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59" r="0" b="-6871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686967" cy="1169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1"/>
                </a:lnSpc>
              </a:pPr>
              <a:r>
                <a:rPr lang="en-US" sz="26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Do not silently fill everything with zero. Keep flags and audit tables.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Methods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525201"/>
            <a:ext cx="4255284" cy="449911"/>
            <a:chOff x="0" y="0"/>
            <a:chExt cx="5673712" cy="5998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599883"/>
            </a:xfrm>
            <a:custGeom>
              <a:avLst/>
              <a:gdLst/>
              <a:ahLst/>
              <a:cxnLst/>
              <a:rect r="r" b="b" t="t" l="l"/>
              <a:pathLst>
                <a:path h="59988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599883"/>
                  </a:lnTo>
                  <a:lnTo>
                    <a:pt x="0" y="599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153" r="0" b="-1224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5998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1"/>
                </a:lnSpc>
              </a:pPr>
              <a:r>
                <a:rPr lang="en-US" sz="23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PHASE 1 TO PHASE 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2333539" cy="480431"/>
            <a:chOff x="0" y="0"/>
            <a:chExt cx="3111386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11391" cy="640580"/>
            </a:xfrm>
            <a:custGeom>
              <a:avLst/>
              <a:gdLst/>
              <a:ahLst/>
              <a:cxnLst/>
              <a:rect r="r" b="b" t="t" l="l"/>
              <a:pathLst>
                <a:path h="64058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1113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00314" y="2443353"/>
            <a:ext cx="8236039" cy="473622"/>
            <a:chOff x="0" y="0"/>
            <a:chExt cx="10981385" cy="631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1379" cy="631493"/>
            </a:xfrm>
            <a:custGeom>
              <a:avLst/>
              <a:gdLst/>
              <a:ahLst/>
              <a:cxnLst/>
              <a:rect r="r" b="b" t="t" l="l"/>
              <a:pathLst>
                <a:path h="631493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31493"/>
                  </a:lnTo>
                  <a:lnTo>
                    <a:pt x="0" y="631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62" r="0" b="-2823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981385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10 queries + window functions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3472863"/>
            <a:ext cx="2333539" cy="480431"/>
            <a:chOff x="0" y="0"/>
            <a:chExt cx="3111386" cy="640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1391" cy="640580"/>
            </a:xfrm>
            <a:custGeom>
              <a:avLst/>
              <a:gdLst/>
              <a:ahLst/>
              <a:cxnLst/>
              <a:rect r="r" b="b" t="t" l="l"/>
              <a:pathLst>
                <a:path h="64058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1113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pandas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00314" y="3514039"/>
            <a:ext cx="8236039" cy="473622"/>
            <a:chOff x="0" y="0"/>
            <a:chExt cx="10981385" cy="6314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81379" cy="631493"/>
            </a:xfrm>
            <a:custGeom>
              <a:avLst/>
              <a:gdLst/>
              <a:ahLst/>
              <a:cxnLst/>
              <a:rect r="r" b="b" t="t" l="l"/>
              <a:pathLst>
                <a:path h="631493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31493"/>
                  </a:lnTo>
                  <a:lnTo>
                    <a:pt x="0" y="631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62" r="0" b="-2823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981385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cleaning + integration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4543549"/>
            <a:ext cx="2333539" cy="480431"/>
            <a:chOff x="0" y="0"/>
            <a:chExt cx="3111386" cy="6405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11391" cy="640580"/>
            </a:xfrm>
            <a:custGeom>
              <a:avLst/>
              <a:gdLst/>
              <a:ahLst/>
              <a:cxnLst/>
              <a:rect r="r" b="b" t="t" l="l"/>
              <a:pathLst>
                <a:path h="64058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1113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NumPy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00314" y="4584725"/>
            <a:ext cx="8236039" cy="473622"/>
            <a:chOff x="0" y="0"/>
            <a:chExt cx="10981385" cy="6314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81379" cy="631493"/>
            </a:xfrm>
            <a:custGeom>
              <a:avLst/>
              <a:gdLst/>
              <a:ahLst/>
              <a:cxnLst/>
              <a:rect r="r" b="b" t="t" l="l"/>
              <a:pathLst>
                <a:path h="631493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31493"/>
                  </a:lnTo>
                  <a:lnTo>
                    <a:pt x="0" y="631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62" r="0" b="-28231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981385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RFM, similarity, regression, simulation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5614225"/>
            <a:ext cx="2333539" cy="480431"/>
            <a:chOff x="0" y="0"/>
            <a:chExt cx="3111386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11391" cy="640580"/>
            </a:xfrm>
            <a:custGeom>
              <a:avLst/>
              <a:gdLst/>
              <a:ahLst/>
              <a:cxnLst/>
              <a:rect r="r" b="b" t="t" l="l"/>
              <a:pathLst>
                <a:path h="64058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1113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Matplotlib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500314" y="5655412"/>
            <a:ext cx="8236039" cy="473622"/>
            <a:chOff x="0" y="0"/>
            <a:chExt cx="10981385" cy="631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81379" cy="631493"/>
            </a:xfrm>
            <a:custGeom>
              <a:avLst/>
              <a:gdLst/>
              <a:ahLst/>
              <a:cxnLst/>
              <a:rect r="r" b="b" t="t" l="l"/>
              <a:pathLst>
                <a:path h="631493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31493"/>
                  </a:lnTo>
                  <a:lnTo>
                    <a:pt x="0" y="631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62" r="0" b="-28231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981385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8 business charts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8324" y="6684912"/>
            <a:ext cx="2333539" cy="480431"/>
            <a:chOff x="0" y="0"/>
            <a:chExt cx="3111386" cy="6405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11391" cy="640580"/>
            </a:xfrm>
            <a:custGeom>
              <a:avLst/>
              <a:gdLst/>
              <a:ahLst/>
              <a:cxnLst/>
              <a:rect r="r" b="b" t="t" l="l"/>
              <a:pathLst>
                <a:path h="64058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1113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Pipeline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500314" y="6726098"/>
            <a:ext cx="8236039" cy="473622"/>
            <a:chOff x="0" y="0"/>
            <a:chExt cx="10981385" cy="6314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1379" cy="631493"/>
            </a:xfrm>
            <a:custGeom>
              <a:avLst/>
              <a:gdLst/>
              <a:ahLst/>
              <a:cxnLst/>
              <a:rect r="r" b="b" t="t" l="l"/>
              <a:pathLst>
                <a:path h="631493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31493"/>
                  </a:lnTo>
                  <a:lnTo>
                    <a:pt x="0" y="631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62" r="0" b="-2823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981385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python main.py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54049" y="2539441"/>
            <a:ext cx="2059010" cy="658882"/>
            <a:chOff x="0" y="0"/>
            <a:chExt cx="2745346" cy="87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45345" cy="878510"/>
            </a:xfrm>
            <a:custGeom>
              <a:avLst/>
              <a:gdLst/>
              <a:ahLst/>
              <a:cxnLst/>
              <a:rect r="r" b="b" t="t" l="l"/>
              <a:pathLst>
                <a:path h="878510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74534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54049" y="3253235"/>
            <a:ext cx="2059010" cy="480435"/>
            <a:chOff x="0" y="0"/>
            <a:chExt cx="2745346" cy="6405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5345" cy="640586"/>
            </a:xfrm>
            <a:custGeom>
              <a:avLst/>
              <a:gdLst/>
              <a:ahLst/>
              <a:cxnLst/>
              <a:rect r="r" b="b" t="t" l="l"/>
              <a:pathLst>
                <a:path h="64058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745346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SQL queries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93500" y="2539441"/>
            <a:ext cx="2333539" cy="658882"/>
            <a:chOff x="0" y="0"/>
            <a:chExt cx="3111386" cy="8785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11391" cy="878510"/>
            </a:xfrm>
            <a:custGeom>
              <a:avLst/>
              <a:gdLst/>
              <a:ahLst/>
              <a:cxnLst/>
              <a:rect r="r" b="b" t="t" l="l"/>
              <a:pathLst>
                <a:path h="87851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09" r="0" b="-190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11138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893500" y="3253235"/>
            <a:ext cx="2333539" cy="480435"/>
            <a:chOff x="0" y="0"/>
            <a:chExt cx="3111386" cy="6405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11391" cy="640586"/>
            </a:xfrm>
            <a:custGeom>
              <a:avLst/>
              <a:gdLst/>
              <a:ahLst/>
              <a:cxnLst/>
              <a:rect r="r" b="b" t="t" l="l"/>
              <a:pathLst>
                <a:path h="640586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3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111386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clean datasets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354049" y="4529823"/>
            <a:ext cx="2470814" cy="658882"/>
            <a:chOff x="0" y="0"/>
            <a:chExt cx="3294418" cy="87851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4414" cy="878510"/>
            </a:xfrm>
            <a:custGeom>
              <a:avLst/>
              <a:gdLst/>
              <a:ahLst/>
              <a:cxnLst/>
              <a:rect r="r" b="b" t="t" l="l"/>
              <a:pathLst>
                <a:path h="878510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9" r="0" b="-230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29441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54049" y="5243608"/>
            <a:ext cx="2470814" cy="480435"/>
            <a:chOff x="0" y="0"/>
            <a:chExt cx="3294418" cy="6405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4414" cy="640586"/>
            </a:xfrm>
            <a:custGeom>
              <a:avLst/>
              <a:gdLst/>
              <a:ahLst/>
              <a:cxnLst/>
              <a:rect r="r" b="b" t="t" l="l"/>
              <a:pathLst>
                <a:path h="640586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294418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NumPy methods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893500" y="4529823"/>
            <a:ext cx="2470814" cy="658882"/>
            <a:chOff x="0" y="0"/>
            <a:chExt cx="3294418" cy="8785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4414" cy="878510"/>
            </a:xfrm>
            <a:custGeom>
              <a:avLst/>
              <a:gdLst/>
              <a:ahLst/>
              <a:cxnLst/>
              <a:rect r="r" b="b" t="t" l="l"/>
              <a:pathLst>
                <a:path h="878510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9" r="0" b="-2306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29441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38BDF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893500" y="5243608"/>
            <a:ext cx="2470814" cy="480435"/>
            <a:chOff x="0" y="0"/>
            <a:chExt cx="3294418" cy="6405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4414" cy="640586"/>
            </a:xfrm>
            <a:custGeom>
              <a:avLst/>
              <a:gdLst/>
              <a:ahLst/>
              <a:cxnLst/>
              <a:rect r="r" b="b" t="t" l="l"/>
              <a:pathLst>
                <a:path h="640586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294418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insight charts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216784" y="7343794"/>
            <a:ext cx="4529823" cy="754971"/>
            <a:chOff x="0" y="0"/>
            <a:chExt cx="6039764" cy="100662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39758" cy="1006626"/>
            </a:xfrm>
            <a:custGeom>
              <a:avLst/>
              <a:gdLst/>
              <a:ahLst/>
              <a:cxnLst/>
              <a:rect r="r" b="b" t="t" l="l"/>
              <a:pathLst>
                <a:path h="1006626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039764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next slides are the core findings.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1 — Category Revenue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578573"/>
            <a:ext cx="4255284" cy="449911"/>
            <a:chOff x="0" y="0"/>
            <a:chExt cx="5673712" cy="5998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599883"/>
            </a:xfrm>
            <a:custGeom>
              <a:avLst/>
              <a:gdLst/>
              <a:ahLst/>
              <a:cxnLst/>
              <a:rect r="r" b="b" t="t" l="l"/>
              <a:pathLst>
                <a:path h="59988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599883"/>
                  </a:lnTo>
                  <a:lnTo>
                    <a:pt x="0" y="599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153" r="0" b="-1224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5998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1"/>
                </a:lnSpc>
              </a:pPr>
              <a:r>
                <a:rPr lang="en-US" sz="2375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1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Which category generates the most revenue?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 &amp; Media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$2.29M net revenue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414864"/>
            <a:chOff x="0" y="0"/>
            <a:chExt cx="2928366" cy="553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53154"/>
            </a:xfrm>
            <a:custGeom>
              <a:avLst/>
              <a:gdLst/>
              <a:ahLst/>
              <a:cxnLst/>
              <a:rect r="r" b="b" t="t" l="l"/>
              <a:pathLst>
                <a:path h="553154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53154"/>
                  </a:lnTo>
                  <a:lnTo>
                    <a:pt x="0" y="553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93" r="0" b="-445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928366" cy="553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503947" cy="1420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6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Books &amp; Media leads the business, with Beauty &amp; Health close behind.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414864"/>
            <a:chOff x="0" y="0"/>
            <a:chExt cx="2379294" cy="5531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53154"/>
            </a:xfrm>
            <a:custGeom>
              <a:avLst/>
              <a:gdLst/>
              <a:ahLst/>
              <a:cxnLst/>
              <a:rect r="r" b="b" t="t" l="l"/>
              <a:pathLst>
                <a:path h="553154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53154"/>
                  </a:lnTo>
                  <a:lnTo>
                    <a:pt x="0" y="553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2" r="0" b="-251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379294" cy="553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686967" cy="148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2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Protect inventory and campaign budget for top categories.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402176"/>
            <a:ext cx="10930036" cy="6003217"/>
            <a:chOff x="0" y="0"/>
            <a:chExt cx="13818235" cy="7589533"/>
          </a:xfrm>
        </p:grpSpPr>
        <p:sp>
          <p:nvSpPr>
            <p:cNvPr name="Freeform 32" id="32" descr="/mnt/data/urbancart_better_charts/chart1_category_revenue.png"/>
            <p:cNvSpPr/>
            <p:nvPr/>
          </p:nvSpPr>
          <p:spPr>
            <a:xfrm flipH="false" flipV="false" rot="0">
              <a:off x="0" y="0"/>
              <a:ext cx="13818236" cy="7589520"/>
            </a:xfrm>
            <a:custGeom>
              <a:avLst/>
              <a:gdLst/>
              <a:ahLst/>
              <a:cxnLst/>
              <a:rect r="r" b="b" t="t" l="l"/>
              <a:pathLst>
                <a:path h="7589520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2 — RFM Customer Value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458659"/>
            <a:ext cx="4255284" cy="427159"/>
            <a:chOff x="0" y="0"/>
            <a:chExt cx="5673712" cy="569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569547"/>
            </a:xfrm>
            <a:custGeom>
              <a:avLst/>
              <a:gdLst/>
              <a:ahLst/>
              <a:cxnLst/>
              <a:rect r="r" b="b" t="t" l="l"/>
              <a:pathLst>
                <a:path h="569547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569547"/>
                  </a:lnTo>
                  <a:lnTo>
                    <a:pt x="0" y="5695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937" r="0" b="-1342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569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2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Which segment creates the most value?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Champions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$2.46M revenue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414864"/>
            <a:chOff x="0" y="0"/>
            <a:chExt cx="2928366" cy="553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53154"/>
            </a:xfrm>
            <a:custGeom>
              <a:avLst/>
              <a:gdLst/>
              <a:ahLst/>
              <a:cxnLst/>
              <a:rect r="r" b="b" t="t" l="l"/>
              <a:pathLst>
                <a:path h="553154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53154"/>
                  </a:lnTo>
                  <a:lnTo>
                    <a:pt x="0" y="553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93" r="0" b="-445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928366" cy="553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503947" cy="1410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9"/>
                </a:lnSpc>
              </a:pPr>
              <a:r>
                <a:rPr lang="en-US" sz="23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A small customer segment contributes a very large revenue share.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414864"/>
            <a:chOff x="0" y="0"/>
            <a:chExt cx="2379294" cy="5531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53154"/>
            </a:xfrm>
            <a:custGeom>
              <a:avLst/>
              <a:gdLst/>
              <a:ahLst/>
              <a:cxnLst/>
              <a:rect r="r" b="b" t="t" l="l"/>
              <a:pathLst>
                <a:path h="553154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53154"/>
                  </a:lnTo>
                  <a:lnTo>
                    <a:pt x="0" y="553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52" r="0" b="-251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379294" cy="553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686967" cy="148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3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Give Champions loyalty rewards and early churn monitoring.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217766"/>
            <a:ext cx="10916581" cy="6360944"/>
            <a:chOff x="0" y="0"/>
            <a:chExt cx="13818235" cy="8051698"/>
          </a:xfrm>
        </p:grpSpPr>
        <p:sp>
          <p:nvSpPr>
            <p:cNvPr name="Freeform 32" id="32" descr="/mnt/data/urbancart_better_charts/chart2_rfm_revenue.png"/>
            <p:cNvSpPr/>
            <p:nvPr/>
          </p:nvSpPr>
          <p:spPr>
            <a:xfrm flipH="false" flipV="false" rot="0">
              <a:off x="0" y="0"/>
              <a:ext cx="13818236" cy="8051673"/>
            </a:xfrm>
            <a:custGeom>
              <a:avLst/>
              <a:gdLst/>
              <a:ahLst/>
              <a:cxnLst/>
              <a:rect r="r" b="b" t="t" l="l"/>
              <a:pathLst>
                <a:path h="8051673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8051673"/>
                  </a:lnTo>
                  <a:lnTo>
                    <a:pt x="0" y="805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08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3 — Return Rate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458659"/>
            <a:ext cx="4255284" cy="404407"/>
            <a:chOff x="0" y="0"/>
            <a:chExt cx="5673712" cy="539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539211"/>
            </a:xfrm>
            <a:custGeom>
              <a:avLst/>
              <a:gdLst/>
              <a:ahLst/>
              <a:cxnLst/>
              <a:rect r="r" b="b" t="t" l="l"/>
              <a:pathLst>
                <a:path h="539211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539211"/>
                  </a:lnTo>
                  <a:lnTo>
                    <a:pt x="0" y="539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98" r="0" b="-1474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539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1"/>
                </a:lnSpc>
              </a:pPr>
              <a:r>
                <a:rPr lang="en-US" sz="2175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3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is return risk highest?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2.45%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highest return rate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414864"/>
            <a:chOff x="0" y="0"/>
            <a:chExt cx="2928366" cy="553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53154"/>
            </a:xfrm>
            <a:custGeom>
              <a:avLst/>
              <a:gdLst/>
              <a:ahLst/>
              <a:cxnLst/>
              <a:rect r="r" b="b" t="t" l="l"/>
              <a:pathLst>
                <a:path h="553154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53154"/>
                  </a:lnTo>
                  <a:lnTo>
                    <a:pt x="0" y="553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93" r="0" b="-445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928366" cy="553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1"/>
                </a:lnSpc>
              </a:pPr>
              <a:r>
                <a:rPr lang="en-US" sz="22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503947" cy="142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0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Returns can reduce profit and may point to quality or description issues.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92112"/>
            <a:chOff x="0" y="0"/>
            <a:chExt cx="2379294" cy="5228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22818"/>
            </a:xfrm>
            <a:custGeom>
              <a:avLst/>
              <a:gdLst/>
              <a:ahLst/>
              <a:cxnLst/>
              <a:rect r="r" b="b" t="t" l="l"/>
              <a:pathLst>
                <a:path h="522818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22818"/>
                  </a:lnTo>
                  <a:lnTo>
                    <a:pt x="0" y="5228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15" r="0" b="-324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379294" cy="5323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686967" cy="1494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0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Inspect suppliers, product pages and packaging in Beauty &amp; Health.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402176"/>
            <a:ext cx="10967232" cy="6065692"/>
            <a:chOff x="0" y="0"/>
            <a:chExt cx="13818235" cy="7642508"/>
          </a:xfrm>
        </p:grpSpPr>
        <p:sp>
          <p:nvSpPr>
            <p:cNvPr name="Freeform 32" id="32" descr="/mnt/data/urbancart_better_charts/chart3_return_rate.png"/>
            <p:cNvSpPr/>
            <p:nvPr/>
          </p:nvSpPr>
          <p:spPr>
            <a:xfrm flipH="false" flipV="false" rot="0">
              <a:off x="0" y="0"/>
              <a:ext cx="13818236" cy="7642495"/>
            </a:xfrm>
            <a:custGeom>
              <a:avLst/>
              <a:gdLst/>
              <a:ahLst/>
              <a:cxnLst/>
              <a:rect r="r" b="b" t="t" l="l"/>
              <a:pathLst>
                <a:path h="7642495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7642495"/>
                  </a:lnTo>
                  <a:lnTo>
                    <a:pt x="0" y="7642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8" t="0" r="-348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09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001000" y="4000500"/>
            <a:ext cx="2286000" cy="2286000"/>
            <a:chOff x="0" y="0"/>
            <a:chExt cx="304800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048000" cy="2508250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168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4 — Revenue Forecast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437684"/>
            <a:ext cx="4255284" cy="368428"/>
            <a:chOff x="0" y="0"/>
            <a:chExt cx="5673712" cy="491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91239"/>
            </a:xfrm>
            <a:custGeom>
              <a:avLst/>
              <a:gdLst/>
              <a:ahLst/>
              <a:cxnLst/>
              <a:rect r="r" b="b" t="t" l="l"/>
              <a:pathLst>
                <a:path h="491239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91239"/>
                  </a:lnTo>
                  <a:lnTo>
                    <a:pt x="0" y="4912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76" r="0" b="-1716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91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5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4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is near-term revenue outlook?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$334.6K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month 1 forecast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378885"/>
            <a:chOff x="0" y="0"/>
            <a:chExt cx="2928366" cy="505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05182"/>
            </a:xfrm>
            <a:custGeom>
              <a:avLst/>
              <a:gdLst/>
              <a:ahLst/>
              <a:cxnLst/>
              <a:rect r="r" b="b" t="t" l="l"/>
              <a:pathLst>
                <a:path h="505182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61" r="0" b="-5823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928366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7503947" cy="1448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Revenue is volatile, so the forecast should be used as a planning range.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78885"/>
            <a:chOff x="0" y="0"/>
            <a:chExt cx="2379294" cy="5051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05182"/>
            </a:xfrm>
            <a:custGeom>
              <a:avLst/>
              <a:gdLst/>
              <a:ahLst/>
              <a:cxnLst/>
              <a:rect r="r" b="b" t="t" l="l"/>
              <a:pathLst>
                <a:path h="50518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483" r="0" b="-370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379294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686967" cy="148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0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Refresh the forecast monthly and prepare demand ranges, not fixed targets.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006190"/>
            <a:ext cx="10781146" cy="6841353"/>
            <a:chOff x="0" y="0"/>
            <a:chExt cx="13818235" cy="8768588"/>
          </a:xfrm>
        </p:grpSpPr>
        <p:sp>
          <p:nvSpPr>
            <p:cNvPr name="Freeform 32" id="32" descr="/mnt/data/urbancart_better_charts/chart4_revenue_forecast.png"/>
            <p:cNvSpPr/>
            <p:nvPr/>
          </p:nvSpPr>
          <p:spPr>
            <a:xfrm flipH="false" flipV="false" rot="0">
              <a:off x="0" y="0"/>
              <a:ext cx="13818236" cy="8768588"/>
            </a:xfrm>
            <a:custGeom>
              <a:avLst/>
              <a:gdLst/>
              <a:ahLst/>
              <a:cxnLst/>
              <a:rect r="r" b="b" t="t" l="l"/>
              <a:pathLst>
                <a:path h="8768588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8768588"/>
                  </a:lnTo>
                  <a:lnTo>
                    <a:pt x="0" y="8768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5 — Top Products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649435"/>
            <a:ext cx="4255284" cy="368428"/>
            <a:chOff x="0" y="0"/>
            <a:chExt cx="5673712" cy="491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91239"/>
            </a:xfrm>
            <a:custGeom>
              <a:avLst/>
              <a:gdLst/>
              <a:ahLst/>
              <a:cxnLst/>
              <a:rect r="r" b="b" t="t" l="l"/>
              <a:pathLst>
                <a:path h="491239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91239"/>
                  </a:lnTo>
                  <a:lnTo>
                    <a:pt x="0" y="4912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76" r="0" b="-1716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91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5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5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Which products need inventory protection?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 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products shown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378885"/>
            <a:chOff x="0" y="0"/>
            <a:chExt cx="2928366" cy="505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05182"/>
            </a:xfrm>
            <a:custGeom>
              <a:avLst/>
              <a:gdLst/>
              <a:ahLst/>
              <a:cxnLst/>
              <a:rect r="r" b="b" t="t" l="l"/>
              <a:pathLst>
                <a:path h="505182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61" r="0" b="-5823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928366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503947" cy="142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2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A small set of products drives a large part of net revenue.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78885"/>
            <a:chOff x="0" y="0"/>
            <a:chExt cx="2379294" cy="5051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05182"/>
            </a:xfrm>
            <a:custGeom>
              <a:avLst/>
              <a:gdLst/>
              <a:ahLst/>
              <a:cxnLst/>
              <a:rect r="r" b="b" t="t" l="l"/>
              <a:pathLst>
                <a:path h="50518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483" r="0" b="-370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379294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324059"/>
            <a:chOff x="0" y="0"/>
            <a:chExt cx="7686967" cy="17654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765409"/>
            </a:xfrm>
            <a:custGeom>
              <a:avLst/>
              <a:gdLst/>
              <a:ahLst/>
              <a:cxnLst/>
              <a:rect r="r" b="b" t="t" l="l"/>
              <a:pathLst>
                <a:path h="176540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765409"/>
                  </a:lnTo>
                  <a:lnTo>
                    <a:pt x="0" y="1765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09" r="0" b="-252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686967" cy="183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6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Prioritize replenishment and recommendation placement for high-revenue products.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487729"/>
            <a:ext cx="10884428" cy="5862696"/>
            <a:chOff x="0" y="0"/>
            <a:chExt cx="13818235" cy="7442937"/>
          </a:xfrm>
        </p:grpSpPr>
        <p:sp>
          <p:nvSpPr>
            <p:cNvPr name="Freeform 32" id="32" descr="/mnt/data/urbancart_better_charts/chart5_top_products.png"/>
            <p:cNvSpPr/>
            <p:nvPr/>
          </p:nvSpPr>
          <p:spPr>
            <a:xfrm flipH="false" flipV="false" rot="0">
              <a:off x="0" y="0"/>
              <a:ext cx="13818236" cy="7442962"/>
            </a:xfrm>
            <a:custGeom>
              <a:avLst/>
              <a:gdLst/>
              <a:ahLst/>
              <a:cxnLst/>
              <a:rect r="r" b="b" t="t" l="l"/>
              <a:pathLst>
                <a:path h="7442962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7442962"/>
                  </a:lnTo>
                  <a:lnTo>
                    <a:pt x="0" y="7442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6 — Payment Mix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458659"/>
            <a:ext cx="4255284" cy="368428"/>
            <a:chOff x="0" y="0"/>
            <a:chExt cx="5673712" cy="491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91239"/>
            </a:xfrm>
            <a:custGeom>
              <a:avLst/>
              <a:gdLst/>
              <a:ahLst/>
              <a:cxnLst/>
              <a:rect r="r" b="b" t="t" l="l"/>
              <a:pathLst>
                <a:path h="491239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91239"/>
                  </a:lnTo>
                  <a:lnTo>
                    <a:pt x="0" y="4912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76" r="0" b="-1716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91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5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6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countries use the same payment methods?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22.27%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Australia gift cards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378885"/>
            <a:chOff x="0" y="0"/>
            <a:chExt cx="2928366" cy="505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505182"/>
            </a:xfrm>
            <a:custGeom>
              <a:avLst/>
              <a:gdLst/>
              <a:ahLst/>
              <a:cxnLst/>
              <a:rect r="r" b="b" t="t" l="l"/>
              <a:pathLst>
                <a:path h="505182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61" r="0" b="-5823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928366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503947" cy="142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0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Checkout design should not assume one universal payment preference.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78885"/>
            <a:chOff x="0" y="0"/>
            <a:chExt cx="2379294" cy="5051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505182"/>
            </a:xfrm>
            <a:custGeom>
              <a:avLst/>
              <a:gdLst/>
              <a:ahLst/>
              <a:cxnLst/>
              <a:rect r="r" b="b" t="t" l="l"/>
              <a:pathLst>
                <a:path h="50518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05182"/>
                  </a:lnTo>
                  <a:lnTo>
                    <a:pt x="0" y="50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483" r="0" b="-370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379294" cy="514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20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686967" cy="148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4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Localize payment options and test provider ordering by country.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333682"/>
            <a:ext cx="10856234" cy="6171286"/>
            <a:chOff x="0" y="0"/>
            <a:chExt cx="13818235" cy="7855052"/>
          </a:xfrm>
        </p:grpSpPr>
        <p:sp>
          <p:nvSpPr>
            <p:cNvPr name="Freeform 32" id="32" descr="/mnt/data/urbancart_better_charts/chart6_payment_mix.png"/>
            <p:cNvSpPr/>
            <p:nvPr/>
          </p:nvSpPr>
          <p:spPr>
            <a:xfrm flipH="false" flipV="false" rot="0">
              <a:off x="0" y="0"/>
              <a:ext cx="13818236" cy="7855077"/>
            </a:xfrm>
            <a:custGeom>
              <a:avLst/>
              <a:gdLst/>
              <a:ahLst/>
              <a:cxnLst/>
              <a:rect r="r" b="b" t="t" l="l"/>
              <a:pathLst>
                <a:path h="7855077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7855077"/>
                  </a:lnTo>
                  <a:lnTo>
                    <a:pt x="0" y="7855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7 — Ratings vs Repeat Purchase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7836" y="1630242"/>
            <a:ext cx="4255284" cy="355201"/>
            <a:chOff x="0" y="0"/>
            <a:chExt cx="5673712" cy="473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73603"/>
            </a:xfrm>
            <a:custGeom>
              <a:avLst/>
              <a:gdLst/>
              <a:ahLst/>
              <a:cxnLst/>
              <a:rect r="r" b="b" t="t" l="l"/>
              <a:pathLst>
                <a:path h="47360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73603"/>
                  </a:lnTo>
                  <a:lnTo>
                    <a:pt x="0" y="47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22" r="0" b="-1817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73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7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ratings explain repeat purchase?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 = 0.035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weak relationship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356133"/>
            <a:chOff x="0" y="0"/>
            <a:chExt cx="2928366" cy="474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474846"/>
            </a:xfrm>
            <a:custGeom>
              <a:avLst/>
              <a:gdLst/>
              <a:ahLst/>
              <a:cxnLst/>
              <a:rect r="r" b="b" t="t" l="l"/>
              <a:pathLst>
                <a:path h="474846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474846"/>
                  </a:lnTo>
                  <a:lnTo>
                    <a:pt x="0" y="474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84" r="0" b="-683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928366" cy="474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1"/>
                </a:lnSpc>
              </a:pPr>
              <a:r>
                <a:rPr lang="en-US" sz="19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029504"/>
            <a:chOff x="0" y="0"/>
            <a:chExt cx="7503947" cy="1372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372678"/>
            </a:xfrm>
            <a:custGeom>
              <a:avLst/>
              <a:gdLst/>
              <a:ahLst/>
              <a:cxnLst/>
              <a:rect r="r" b="b" t="t" l="l"/>
              <a:pathLst>
                <a:path h="137267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503947" cy="1372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Ratings alone are a weak loyalty signal.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56133"/>
            <a:chOff x="0" y="0"/>
            <a:chExt cx="2379294" cy="474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474846"/>
            </a:xfrm>
            <a:custGeom>
              <a:avLst/>
              <a:gdLst/>
              <a:ahLst/>
              <a:cxnLst/>
              <a:rect r="r" b="b" t="t" l="l"/>
              <a:pathLst>
                <a:path h="474846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474846"/>
                  </a:lnTo>
                  <a:lnTo>
                    <a:pt x="0" y="474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53" r="0" b="-458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379294" cy="474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1"/>
                </a:lnSpc>
              </a:pPr>
              <a:r>
                <a:rPr lang="en-US" sz="19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686967" cy="148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2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Combine ratings with RFM value, recency and web engagement.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1886859"/>
            <a:ext cx="10788361" cy="7066736"/>
            <a:chOff x="0" y="0"/>
            <a:chExt cx="13818235" cy="9051404"/>
          </a:xfrm>
        </p:grpSpPr>
        <p:sp>
          <p:nvSpPr>
            <p:cNvPr name="Freeform 32" id="32" descr="/mnt/data/urbancart_better_charts/chart7_rating_repeat.png"/>
            <p:cNvSpPr/>
            <p:nvPr/>
          </p:nvSpPr>
          <p:spPr>
            <a:xfrm flipH="false" flipV="false" rot="0">
              <a:off x="0" y="0"/>
              <a:ext cx="13818236" cy="9051417"/>
            </a:xfrm>
            <a:custGeom>
              <a:avLst/>
              <a:gdLst/>
              <a:ahLst/>
              <a:cxnLst/>
              <a:rect r="r" b="b" t="t" l="l"/>
              <a:pathLst>
                <a:path h="9051417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9051417"/>
                  </a:lnTo>
                  <a:lnTo>
                    <a:pt x="0" y="90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 8 — Weekly Activity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609268"/>
            <a:ext cx="4255284" cy="355201"/>
            <a:chOff x="0" y="0"/>
            <a:chExt cx="5673712" cy="473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73603"/>
            </a:xfrm>
            <a:custGeom>
              <a:avLst/>
              <a:gdLst/>
              <a:ahLst/>
              <a:cxnLst/>
              <a:rect r="r" b="b" t="t" l="l"/>
              <a:pathLst>
                <a:path h="47360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73603"/>
                  </a:lnTo>
                  <a:lnTo>
                    <a:pt x="0" y="47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22" r="0" b="-1817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73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5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INSIGHT 8 OF 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402176"/>
            <a:ext cx="5490686" cy="754971"/>
            <a:chOff x="0" y="0"/>
            <a:chExt cx="7320915" cy="100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0920" cy="1006626"/>
            </a:xfrm>
            <a:custGeom>
              <a:avLst/>
              <a:gdLst/>
              <a:ahLst/>
              <a:cxnLst/>
              <a:rect r="r" b="b" t="t" l="l"/>
              <a:pathLst>
                <a:path h="1006626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32091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engagement and revenue move together?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363049"/>
            <a:ext cx="5765225" cy="658882"/>
            <a:chOff x="0" y="0"/>
            <a:chExt cx="7686967" cy="878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6966" cy="878510"/>
            </a:xfrm>
            <a:custGeom>
              <a:avLst/>
              <a:gdLst/>
              <a:ahLst/>
              <a:cxnLst/>
              <a:rect r="r" b="b" t="t" l="l"/>
              <a:pathLst>
                <a:path h="878510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86967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4-week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4076833"/>
            <a:ext cx="5765225" cy="480435"/>
            <a:chOff x="0" y="0"/>
            <a:chExt cx="7686967" cy="6405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6966" cy="640586"/>
            </a:xfrm>
            <a:custGeom>
              <a:avLst/>
              <a:gdLst/>
              <a:ahLst/>
              <a:cxnLst/>
              <a:rect r="r" b="b" t="t" l="l"/>
              <a:pathLst>
                <a:path h="640586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6967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moving averages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8324" y="4845529"/>
            <a:ext cx="2196274" cy="356133"/>
            <a:chOff x="0" y="0"/>
            <a:chExt cx="2928366" cy="474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8" cy="474846"/>
            </a:xfrm>
            <a:custGeom>
              <a:avLst/>
              <a:gdLst/>
              <a:ahLst/>
              <a:cxnLst/>
              <a:rect r="r" b="b" t="t" l="l"/>
              <a:pathLst>
                <a:path h="474846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474846"/>
                  </a:lnTo>
                  <a:lnTo>
                    <a:pt x="0" y="474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84" r="0" b="-683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928366" cy="474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1"/>
                </a:lnSpc>
              </a:pPr>
              <a:r>
                <a:rPr lang="en-US" sz="19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8324" y="5284784"/>
            <a:ext cx="5627961" cy="1304634"/>
            <a:chOff x="0" y="0"/>
            <a:chExt cx="7503947" cy="17395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03943" cy="1739518"/>
            </a:xfrm>
            <a:custGeom>
              <a:avLst/>
              <a:gdLst/>
              <a:ahLst/>
              <a:cxnLst/>
              <a:rect r="r" b="b" t="t" l="l"/>
              <a:pathLst>
                <a:path h="1739518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739518"/>
                  </a:lnTo>
                  <a:lnTo>
                    <a:pt x="0" y="173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99" r="0" b="-235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503947" cy="1796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4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Active customers and revenue can diverge because of basket size, discounting and product mix.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8324" y="6726098"/>
            <a:ext cx="1784471" cy="356133"/>
            <a:chOff x="0" y="0"/>
            <a:chExt cx="2379294" cy="474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299" cy="474846"/>
            </a:xfrm>
            <a:custGeom>
              <a:avLst/>
              <a:gdLst/>
              <a:ahLst/>
              <a:cxnLst/>
              <a:rect r="r" b="b" t="t" l="l"/>
              <a:pathLst>
                <a:path h="474846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474846"/>
                  </a:lnTo>
                  <a:lnTo>
                    <a:pt x="0" y="474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53" r="0" b="-458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379294" cy="474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1"/>
                </a:lnSpc>
              </a:pPr>
              <a:r>
                <a:rPr lang="en-US" sz="190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8324" y="7165353"/>
            <a:ext cx="5765225" cy="1070684"/>
            <a:chOff x="0" y="0"/>
            <a:chExt cx="7686967" cy="1427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1427577"/>
            </a:xfrm>
            <a:custGeom>
              <a:avLst/>
              <a:gdLst/>
              <a:ahLst/>
              <a:cxnLst/>
              <a:rect r="r" b="b" t="t" l="l"/>
              <a:pathLst>
                <a:path h="142757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427577"/>
                  </a:lnTo>
                  <a:lnTo>
                    <a:pt x="0" y="1427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686967" cy="142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Monitor both metrics together every week.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000" y="2144592"/>
            <a:ext cx="10909662" cy="6503965"/>
            <a:chOff x="0" y="0"/>
            <a:chExt cx="13818235" cy="8237957"/>
          </a:xfrm>
        </p:grpSpPr>
        <p:sp>
          <p:nvSpPr>
            <p:cNvPr name="Freeform 32" id="32" descr="/mnt/data/urbancart_better_charts/chart8_weekly_activity.png"/>
            <p:cNvSpPr/>
            <p:nvPr/>
          </p:nvSpPr>
          <p:spPr>
            <a:xfrm flipH="false" flipV="false" rot="0">
              <a:off x="0" y="0"/>
              <a:ext cx="13818236" cy="8237982"/>
            </a:xfrm>
            <a:custGeom>
              <a:avLst/>
              <a:gdLst/>
              <a:ahLst/>
              <a:cxnLst/>
              <a:rect r="r" b="b" t="t" l="l"/>
              <a:pathLst>
                <a:path h="8237982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8237982"/>
                  </a:lnTo>
                  <a:lnTo>
                    <a:pt x="0" y="8237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Recommendations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0686" y="1990373"/>
            <a:ext cx="754971" cy="411804"/>
            <a:chOff x="0" y="0"/>
            <a:chExt cx="1006627" cy="549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27647" y="1962922"/>
            <a:ext cx="5765225" cy="411804"/>
            <a:chOff x="0" y="0"/>
            <a:chExt cx="7686967" cy="549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86966" cy="549069"/>
            </a:xfrm>
            <a:custGeom>
              <a:avLst/>
              <a:gdLst/>
              <a:ahLst/>
              <a:cxnLst/>
              <a:rect r="r" b="b" t="t" l="l"/>
              <a:pathLst>
                <a:path h="54906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68696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Protect high-revenue categories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67402" y="1990373"/>
            <a:ext cx="7549696" cy="462242"/>
            <a:chOff x="0" y="0"/>
            <a:chExt cx="10066261" cy="6163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66265" cy="616319"/>
            </a:xfrm>
            <a:custGeom>
              <a:avLst/>
              <a:gdLst/>
              <a:ahLst/>
              <a:cxnLst/>
              <a:rect r="r" b="b" t="t" l="l"/>
              <a:pathLst>
                <a:path h="61631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6319"/>
                  </a:lnTo>
                  <a:lnTo>
                    <a:pt x="0" y="616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02" r="0" b="-2627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066261" cy="61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2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Keep Books &amp; Media and top products in stock.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0686" y="3266961"/>
            <a:ext cx="754971" cy="411804"/>
            <a:chOff x="0" y="0"/>
            <a:chExt cx="1006627" cy="549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27647" y="3239510"/>
            <a:ext cx="5765225" cy="411804"/>
            <a:chOff x="0" y="0"/>
            <a:chExt cx="7686967" cy="549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6966" cy="549069"/>
            </a:xfrm>
            <a:custGeom>
              <a:avLst/>
              <a:gdLst/>
              <a:ahLst/>
              <a:cxnLst/>
              <a:rect r="r" b="b" t="t" l="l"/>
              <a:pathLst>
                <a:path h="54906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68696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Retain Champions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67402" y="3266961"/>
            <a:ext cx="7549696" cy="462242"/>
            <a:chOff x="0" y="0"/>
            <a:chExt cx="10066261" cy="6163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66265" cy="616319"/>
            </a:xfrm>
            <a:custGeom>
              <a:avLst/>
              <a:gdLst/>
              <a:ahLst/>
              <a:cxnLst/>
              <a:rect r="r" b="b" t="t" l="l"/>
              <a:pathLst>
                <a:path h="61631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6319"/>
                  </a:lnTo>
                  <a:lnTo>
                    <a:pt x="0" y="616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02" r="0" b="-26279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066261" cy="61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2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Reward high-value customers and monitor churn risk.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0686" y="4543549"/>
            <a:ext cx="754971" cy="411804"/>
            <a:chOff x="0" y="0"/>
            <a:chExt cx="1006627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27647" y="4516088"/>
            <a:ext cx="5765225" cy="411804"/>
            <a:chOff x="0" y="0"/>
            <a:chExt cx="7686967" cy="5490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6966" cy="549069"/>
            </a:xfrm>
            <a:custGeom>
              <a:avLst/>
              <a:gdLst/>
              <a:ahLst/>
              <a:cxnLst/>
              <a:rect r="r" b="b" t="t" l="l"/>
              <a:pathLst>
                <a:path h="54906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68696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 returns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67402" y="4729286"/>
            <a:ext cx="7823735" cy="462242"/>
            <a:chOff x="0" y="0"/>
            <a:chExt cx="10431647" cy="6163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31650" cy="616319"/>
            </a:xfrm>
            <a:custGeom>
              <a:avLst/>
              <a:gdLst/>
              <a:ahLst/>
              <a:cxnLst/>
              <a:rect r="r" b="b" t="t" l="l"/>
              <a:pathLst>
                <a:path h="616319" w="10431650">
                  <a:moveTo>
                    <a:pt x="0" y="0"/>
                  </a:moveTo>
                  <a:lnTo>
                    <a:pt x="10431650" y="0"/>
                  </a:lnTo>
                  <a:lnTo>
                    <a:pt x="10431650" y="616319"/>
                  </a:lnTo>
                  <a:lnTo>
                    <a:pt x="0" y="616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02" r="3502" b="-26279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431647" cy="61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2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Investigate Beauty &amp; Health quality and product content.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0686" y="5820127"/>
            <a:ext cx="754971" cy="411804"/>
            <a:chOff x="0" y="0"/>
            <a:chExt cx="1006627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27647" y="5792676"/>
            <a:ext cx="5765225" cy="411804"/>
            <a:chOff x="0" y="0"/>
            <a:chExt cx="7686967" cy="549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86966" cy="549069"/>
            </a:xfrm>
            <a:custGeom>
              <a:avLst/>
              <a:gdLst/>
              <a:ahLst/>
              <a:cxnLst/>
              <a:rect r="r" b="b" t="t" l="l"/>
              <a:pathLst>
                <a:path h="54906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68696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Improve product governance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167402" y="6005865"/>
            <a:ext cx="7823735" cy="462242"/>
            <a:chOff x="0" y="0"/>
            <a:chExt cx="10431647" cy="61632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31650" cy="616319"/>
            </a:xfrm>
            <a:custGeom>
              <a:avLst/>
              <a:gdLst/>
              <a:ahLst/>
              <a:cxnLst/>
              <a:rect r="r" b="b" t="t" l="l"/>
              <a:pathLst>
                <a:path h="616319" w="10431650">
                  <a:moveTo>
                    <a:pt x="0" y="0"/>
                  </a:moveTo>
                  <a:lnTo>
                    <a:pt x="10431650" y="0"/>
                  </a:lnTo>
                  <a:lnTo>
                    <a:pt x="10431650" y="616319"/>
                  </a:lnTo>
                  <a:lnTo>
                    <a:pt x="0" y="616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02" r="3502" b="-26279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431647" cy="61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2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Resolve supplier-only and database-only SKU exceptions.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0686" y="7096716"/>
            <a:ext cx="754971" cy="411804"/>
            <a:chOff x="0" y="0"/>
            <a:chExt cx="1006627" cy="549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27647" y="7069264"/>
            <a:ext cx="5765225" cy="411804"/>
            <a:chOff x="0" y="0"/>
            <a:chExt cx="7686967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6966" cy="549069"/>
            </a:xfrm>
            <a:custGeom>
              <a:avLst/>
              <a:gdLst/>
              <a:ahLst/>
              <a:cxnLst/>
              <a:rect r="r" b="b" t="t" l="l"/>
              <a:pathLst>
                <a:path h="549069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768696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Plan with uncertainty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167402" y="7096716"/>
            <a:ext cx="7549696" cy="462242"/>
            <a:chOff x="0" y="0"/>
            <a:chExt cx="10066261" cy="61632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66265" cy="616319"/>
            </a:xfrm>
            <a:custGeom>
              <a:avLst/>
              <a:gdLst/>
              <a:ahLst/>
              <a:cxnLst/>
              <a:rect r="r" b="b" t="t" l="l"/>
              <a:pathLst>
                <a:path h="61631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6319"/>
                  </a:lnTo>
                  <a:lnTo>
                    <a:pt x="0" y="616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702" r="0" b="-26279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066261" cy="61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2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Use forecasts as ranges and refresh monthly.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" y="480431"/>
            <a:ext cx="13452186" cy="617706"/>
            <a:chOff x="0" y="0"/>
            <a:chExt cx="17936248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6252" cy="823603"/>
            </a:xfrm>
            <a:custGeom>
              <a:avLst/>
              <a:gdLst/>
              <a:ahLst/>
              <a:cxnLst/>
              <a:rect r="r" b="b" t="t" l="l"/>
              <a:pathLst>
                <a:path h="823603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340" r="0" b="-3743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3624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B1F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Submission Package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836" y="1609268"/>
            <a:ext cx="16287140" cy="20974"/>
            <a:chOff x="0" y="0"/>
            <a:chExt cx="21716187" cy="2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6237" cy="27940"/>
            </a:xfrm>
            <a:custGeom>
              <a:avLst/>
              <a:gdLst/>
              <a:ahLst/>
              <a:cxnLst/>
              <a:rect r="r" b="b" t="t" l="l"/>
              <a:pathLst>
                <a:path h="27940" w="21716237">
                  <a:moveTo>
                    <a:pt x="0" y="0"/>
                  </a:moveTo>
                  <a:lnTo>
                    <a:pt x="21716237" y="27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094576" r="0" b="-15094667"/>
              </a:stretch>
            </a:blipFill>
            <a:ln w="20971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88324" y="1571711"/>
            <a:ext cx="4255284" cy="368428"/>
            <a:chOff x="0" y="0"/>
            <a:chExt cx="5673712" cy="491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73713" cy="491239"/>
            </a:xfrm>
            <a:custGeom>
              <a:avLst/>
              <a:gdLst/>
              <a:ahLst/>
              <a:cxnLst/>
              <a:rect r="r" b="b" t="t" l="l"/>
              <a:pathLst>
                <a:path h="491239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491239"/>
                  </a:lnTo>
                  <a:lnTo>
                    <a:pt x="0" y="4912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76" r="0" b="-1716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73712" cy="491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5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REPOSITORY CONTENTS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686" y="2388451"/>
            <a:ext cx="4323921" cy="473622"/>
            <a:chOff x="0" y="0"/>
            <a:chExt cx="5765228" cy="631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queries.sql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59323" y="2415902"/>
            <a:ext cx="7549696" cy="463165"/>
            <a:chOff x="0" y="0"/>
            <a:chExt cx="10066261" cy="6175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10 SQL queries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0686" y="3184598"/>
            <a:ext cx="4323921" cy="473622"/>
            <a:chOff x="0" y="0"/>
            <a:chExt cx="5765228" cy="6314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analysis.ipynb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59323" y="3212049"/>
            <a:ext cx="7549696" cy="463165"/>
            <a:chOff x="0" y="0"/>
            <a:chExt cx="10066261" cy="6175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Phases 1–4 notebook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0686" y="3980755"/>
            <a:ext cx="4323921" cy="473622"/>
            <a:chOff x="0" y="0"/>
            <a:chExt cx="5765228" cy="631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data/processed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59323" y="4008206"/>
            <a:ext cx="7549696" cy="463165"/>
            <a:chOff x="0" y="0"/>
            <a:chExt cx="10066261" cy="6175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clean reusable datasets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70686" y="4776902"/>
            <a:ext cx="4323921" cy="473622"/>
            <a:chOff x="0" y="0"/>
            <a:chExt cx="5765228" cy="631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report.pdf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59323" y="4804353"/>
            <a:ext cx="7549696" cy="463165"/>
            <a:chOff x="0" y="0"/>
            <a:chExt cx="10066261" cy="6175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52-page written report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0686" y="5573049"/>
            <a:ext cx="4323921" cy="473622"/>
            <a:chOff x="0" y="0"/>
            <a:chExt cx="5765228" cy="6314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executive_summary.pdf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559323" y="5600500"/>
            <a:ext cx="7549696" cy="463165"/>
            <a:chOff x="0" y="0"/>
            <a:chExt cx="10066261" cy="6175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1-page management summary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70686" y="6369196"/>
            <a:ext cx="4323921" cy="473622"/>
            <a:chOff x="0" y="0"/>
            <a:chExt cx="5765228" cy="6314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README.md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59323" y="6396657"/>
            <a:ext cx="7549696" cy="463165"/>
            <a:chOff x="0" y="0"/>
            <a:chExt cx="10066261" cy="6175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run steps + team contributions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70686" y="7165353"/>
            <a:ext cx="4323921" cy="473622"/>
            <a:chOff x="0" y="0"/>
            <a:chExt cx="5765228" cy="6314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65224" cy="631498"/>
            </a:xfrm>
            <a:custGeom>
              <a:avLst/>
              <a:gdLst/>
              <a:ahLst/>
              <a:cxnLst/>
              <a:rect r="r" b="b" t="t" l="l"/>
              <a:pathLst>
                <a:path h="631498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631498"/>
                  </a:lnTo>
                  <a:lnTo>
                    <a:pt x="0" y="631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59" r="0" b="-1141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765228" cy="631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501" b="true">
                  <a:solidFill>
                    <a:srgbClr val="0B4A6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main.py + src/pipeline.py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559323" y="7192804"/>
            <a:ext cx="7549696" cy="463165"/>
            <a:chOff x="0" y="0"/>
            <a:chExt cx="10066261" cy="6175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66265" cy="617555"/>
            </a:xfrm>
            <a:custGeom>
              <a:avLst/>
              <a:gdLst/>
              <a:ahLst/>
              <a:cxnLst/>
              <a:rect r="r" b="b" t="t" l="l"/>
              <a:pathLst>
                <a:path h="61755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17555"/>
                  </a:lnTo>
                  <a:lnTo>
                    <a:pt x="0" y="617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564" r="0" b="-2546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066261" cy="617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rPr>
                <a:t>one-command pipeline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177657" y="2127647"/>
            <a:ext cx="3431677" cy="367513"/>
            <a:chOff x="0" y="0"/>
            <a:chExt cx="4575569" cy="4900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5575" cy="490020"/>
            </a:xfrm>
            <a:custGeom>
              <a:avLst/>
              <a:gdLst/>
              <a:ahLst/>
              <a:cxnLst/>
              <a:rect r="r" b="b" t="t" l="l"/>
              <a:pathLst>
                <a:path h="490020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490020"/>
                  </a:lnTo>
                  <a:lnTo>
                    <a:pt x="0" y="490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254" r="0" b="-1286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575569" cy="490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00A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Run command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77657" y="2745343"/>
            <a:ext cx="3706216" cy="576520"/>
            <a:chOff x="0" y="0"/>
            <a:chExt cx="4941621" cy="76869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41620" cy="768697"/>
            </a:xfrm>
            <a:custGeom>
              <a:avLst/>
              <a:gdLst/>
              <a:ahLst/>
              <a:cxnLst/>
              <a:rect r="r" b="b" t="t" l="l"/>
              <a:pathLst>
                <a:path h="76869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1" r="0" b="-7526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941621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python main.py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177657" y="3596402"/>
            <a:ext cx="3843480" cy="901676"/>
            <a:chOff x="0" y="0"/>
            <a:chExt cx="5124640" cy="120223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4644" cy="1202233"/>
            </a:xfrm>
            <a:custGeom>
              <a:avLst/>
              <a:gdLst/>
              <a:ahLst/>
              <a:cxnLst/>
              <a:rect r="r" b="b" t="t" l="l"/>
              <a:pathLst>
                <a:path h="120223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1202233"/>
                  </a:lnTo>
                  <a:lnTo>
                    <a:pt x="0" y="1202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92" r="0" b="-2492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5124640" cy="12498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51">
                  <a:solidFill>
                    <a:srgbClr val="475569"/>
                  </a:solidFill>
                  <a:latin typeface="Aptos"/>
                  <a:ea typeface="Aptos"/>
                  <a:cs typeface="Aptos"/>
                  <a:sym typeface="Aptos"/>
                </a:rPr>
                <a:t>Regenerates clean data, tables, models and charts.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774058" y="9512618"/>
            <a:ext cx="823608" cy="301990"/>
            <a:chOff x="0" y="0"/>
            <a:chExt cx="1098144" cy="40265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8138" cy="402651"/>
            </a:xfrm>
            <a:custGeom>
              <a:avLst/>
              <a:gdLst/>
              <a:ahLst/>
              <a:cxnLst/>
              <a:rect r="r" b="b" t="t" l="l"/>
              <a:pathLst>
                <a:path h="402651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09814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16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952593" y="9571720"/>
            <a:ext cx="1597638" cy="19069"/>
            <a:chOff x="0" y="0"/>
            <a:chExt cx="2130184" cy="254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30171" cy="25400"/>
            </a:xfrm>
            <a:custGeom>
              <a:avLst/>
              <a:gdLst/>
              <a:ahLst/>
              <a:cxnLst/>
              <a:rect r="r" b="b" t="t" l="l"/>
              <a:pathLst>
                <a:path h="25400" w="2130171">
                  <a:moveTo>
                    <a:pt x="0" y="0"/>
                  </a:moveTo>
                  <a:lnTo>
                    <a:pt x="213017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84072" r="0" b="-1584172"/>
              </a:stretch>
            </a:blipFill>
            <a:ln w="19065" cap="sq">
              <a:solidFill>
                <a:srgbClr val="CBD5E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0686" y="960872"/>
            <a:ext cx="7137892" cy="960872"/>
            <a:chOff x="0" y="0"/>
            <a:chExt cx="9517190" cy="128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7195" cy="1281161"/>
            </a:xfrm>
            <a:custGeom>
              <a:avLst/>
              <a:gdLst/>
              <a:ahLst/>
              <a:cxnLst/>
              <a:rect r="r" b="b" t="t" l="l"/>
              <a:pathLst>
                <a:path h="1281161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517190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6"/>
                </a:lnSpc>
              </a:pPr>
              <a:r>
                <a:rPr lang="en-US" sz="660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686" y="2196274"/>
            <a:ext cx="8373304" cy="617706"/>
            <a:chOff x="0" y="0"/>
            <a:chExt cx="11164405" cy="8236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4402" cy="823603"/>
            </a:xfrm>
            <a:custGeom>
              <a:avLst/>
              <a:gdLst/>
              <a:ahLst/>
              <a:cxnLst/>
              <a:rect r="r" b="b" t="t" l="l"/>
              <a:pathLst>
                <a:path h="823603" w="11164402">
                  <a:moveTo>
                    <a:pt x="0" y="0"/>
                  </a:moveTo>
                  <a:lnTo>
                    <a:pt x="11164402" y="0"/>
                  </a:lnTo>
                  <a:lnTo>
                    <a:pt x="1116440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130" r="0" b="-21413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1164405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>
                  <a:solidFill>
                    <a:srgbClr val="D9EAF7"/>
                  </a:solidFill>
                  <a:latin typeface="Aptos"/>
                  <a:ea typeface="Aptos"/>
                  <a:cs typeface="Aptos"/>
                  <a:sym typeface="Aptos"/>
                </a:rPr>
                <a:t>Decision-ready analytics starts with clean data.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083" y="3197181"/>
            <a:ext cx="5547884" cy="57198"/>
            <a:chOff x="0" y="0"/>
            <a:chExt cx="7397179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97242" cy="76200"/>
            </a:xfrm>
            <a:custGeom>
              <a:avLst/>
              <a:gdLst/>
              <a:ahLst/>
              <a:cxnLst/>
              <a:rect r="r" b="b" t="t" l="l"/>
              <a:pathLst>
                <a:path h="76200" w="7397242">
                  <a:moveTo>
                    <a:pt x="0" y="0"/>
                  </a:moveTo>
                  <a:lnTo>
                    <a:pt x="7397242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1484" r="0" b="-1841567"/>
              </a:stretch>
            </a:blipFill>
            <a:ln w="5719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0686" y="4323921"/>
            <a:ext cx="2745343" cy="549069"/>
            <a:chOff x="0" y="0"/>
            <a:chExt cx="3660458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38BDF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Group 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0686" y="5274154"/>
            <a:ext cx="8373304" cy="486849"/>
            <a:chOff x="0" y="0"/>
            <a:chExt cx="11164405" cy="6491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64404" cy="649137"/>
            </a:xfrm>
            <a:custGeom>
              <a:avLst/>
              <a:gdLst/>
              <a:ahLst/>
              <a:cxnLst/>
              <a:rect r="r" b="b" t="t" l="l"/>
              <a:pathLst>
                <a:path h="649137" w="11164404">
                  <a:moveTo>
                    <a:pt x="0" y="0"/>
                  </a:moveTo>
                  <a:lnTo>
                    <a:pt x="11164404" y="0"/>
                  </a:lnTo>
                  <a:lnTo>
                    <a:pt x="11164404" y="649137"/>
                  </a:lnTo>
                  <a:lnTo>
                    <a:pt x="0" y="649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322" r="11475" b="-2460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164405" cy="649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601">
                  <a:solidFill>
                    <a:srgbClr val="E0F2FE"/>
                  </a:solidFill>
                  <a:latin typeface="Aptos"/>
                  <a:ea typeface="Aptos"/>
                  <a:cs typeface="Aptos"/>
                  <a:sym typeface="Aptos"/>
                </a:rPr>
                <a:t>Keo Samnang  •  Sue Theara  •  Teng Nyka  • Yin Panharith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5" y="1029500"/>
            <a:ext cx="7137892" cy="3843480"/>
            <a:chOff x="0" y="0"/>
            <a:chExt cx="9517190" cy="5124640"/>
          </a:xfrm>
        </p:grpSpPr>
        <p:sp>
          <p:nvSpPr>
            <p:cNvPr name="Freeform 17" id="17" descr="/mnt/data/urbancart_better_charts/chart2_rfm_revenue.png"/>
            <p:cNvSpPr/>
            <p:nvPr/>
          </p:nvSpPr>
          <p:spPr>
            <a:xfrm flipH="false" flipV="false" rot="0">
              <a:off x="0" y="0"/>
              <a:ext cx="9517253" cy="5124704"/>
            </a:xfrm>
            <a:custGeom>
              <a:avLst/>
              <a:gdLst/>
              <a:ahLst/>
              <a:cxnLst/>
              <a:rect r="r" b="b" t="t" l="l"/>
              <a:pathLst>
                <a:path h="5124704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5124704"/>
                  </a:lnTo>
                  <a:lnTo>
                    <a:pt x="0" y="5124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06" r="0" b="-4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83245" y="5490686"/>
            <a:ext cx="7137892" cy="3843480"/>
            <a:chOff x="0" y="0"/>
            <a:chExt cx="9517190" cy="5124640"/>
          </a:xfrm>
        </p:grpSpPr>
        <p:sp>
          <p:nvSpPr>
            <p:cNvPr name="Freeform 19" id="19" descr="/mnt/data/urbancart_better_charts/chart8_weekly_activity.png"/>
            <p:cNvSpPr/>
            <p:nvPr/>
          </p:nvSpPr>
          <p:spPr>
            <a:xfrm flipH="false" flipV="false" rot="0">
              <a:off x="0" y="0"/>
              <a:ext cx="9517253" cy="5124704"/>
            </a:xfrm>
            <a:custGeom>
              <a:avLst/>
              <a:gdLst/>
              <a:ahLst/>
              <a:cxnLst/>
              <a:rect r="r" b="b" t="t" l="l"/>
              <a:pathLst>
                <a:path h="5124704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5124704"/>
                  </a:lnTo>
                  <a:lnTo>
                    <a:pt x="0" y="5124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58" r="0" b="-535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0686" y="7549696"/>
            <a:ext cx="4392549" cy="960872"/>
            <a:chOff x="0" y="0"/>
            <a:chExt cx="5856732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6736" cy="1281161"/>
            </a:xfrm>
            <a:custGeom>
              <a:avLst/>
              <a:gdLst/>
              <a:ahLst/>
              <a:cxnLst/>
              <a:rect r="r" b="b" t="t" l="l"/>
              <a:pathLst>
                <a:path h="128116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85673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65"/>
                </a:lnSpc>
              </a:pPr>
              <a:r>
                <a:rPr lang="en-US" sz="6304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Q&amp;A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DAHQ4LO8Ez4</dc:identifier>
  <dcterms:modified xsi:type="dcterms:W3CDTF">2011-08-01T06:04:30Z</dcterms:modified>
  <cp:revision>1</cp:revision>
  <dc:title>UrbanCart_Group9_Presentation.pptx</dc:title>
</cp:coreProperties>
</file>